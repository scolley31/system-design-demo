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3200" b="1">
                <a:solidFill>
                  <a:srgbClr val="FFFFFF"/>
                </a:solidFill>
                <a:latin typeface="PingFang TC"/>
                <a:ea typeface="PingFang TC"/>
              </a:rPr>
              <a:t>#n+1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Messenger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demo — 群聊即時收發、離線補收、同 chat 順序一致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真多 process：2 gateway + 2 pub/sub + etcd + DynamoDB Local · kill 一台照樣連號 · 附 Terraform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建立群聊（≤ 100 人）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收發訊息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離線使用者回來後收到期間的訊息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Out of scope：附件、視訊、線上狀態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在線送達 &lt; 500ms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耐久：訊息不可遺失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同一個 chat 所有人看到完全一致的順序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1 億使用者、高吞吐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容量數學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1 億條 WebSocket：Erlang 單機 100–200 萬 → 50–100 台；Python ~5 萬/process → 2,000 台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每人每天 50 則 → 50 億則/天 ≈ 58K msg/s 平均、~175K 峰值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fan-out 平均 10 人 → 175 萬投遞/s，但 owner 只推 M 個 gateway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~200B × 50 億 ≈ 1TB/天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 = 4096 shard；單 owner ~2 萬 msg/s → 峰值 ~9 台，留餘裕 ~20 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設計成立、實作語言不成立：正式版 gateway 用 Go / Erlang / Rust（附錄 L）。DynamoDB 寫入峰值 ~70 萬 WCU，需事先申請 quota。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NETWORK PROTOCOLS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協定比較：怎麼把訊息推到 client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651760"/>
                <a:gridCol w="1737360"/>
                <a:gridCol w="3063240"/>
                <a:gridCol w="1920240"/>
              </a:tblGrid>
              <a:tr h="60350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方式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優點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缺點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Simple polling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固定間隔 GET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簡單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大量空回應、高延遲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偶爾檢查通知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Long polling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server hold 住直到有資料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比 polling 即時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每次回應後要重建請求；頻繁更新仍有延遲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中低頻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SSE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server → client 單向串流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簡單、自動重連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單向；client 送訊仍要另一條 HTTP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通知、價格推播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WebSocket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HTTP Upgrade 成持久雙向連線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真雙向、低延遲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連線管理與錯誤恢復較複雜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聊天、遊戲、協作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92040"/>
            <a:ext cx="111099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 WebSocket + stateless gateway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聊天是高頻雙向；gateway 只管連線、不擁有任何 chat → 使用者連任意一台、水平擴展容易。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代價：連線是長期狀態 → 要處理斷線重連 + 補收（深入 3）。gRPC-Web 在瀏覽器要 proxy → 不選。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WEBSOCKET API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WebSocket API（JSON frame，type 欄位）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526280"/>
              </a:tblGrid>
              <a:tr h="3759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client → gateway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欄位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回應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（連上 /ws?user_id=）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正式版 ?token=&lt;Cognito id token&gt;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welcome {gateway_id, chats[]} → 每個 chat 補收 newMessage{catchup} + catchupDone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createChat（PDF）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req_id, name, participants[]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result {status SUCCESS|FAILURE, chat_id}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sendMessage（PDF）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req_id, chat_id, client_msg_id, text, client_ts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result {status, message_id, dup}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modifyChatParticipants（PDF）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req_id, chat_id, user_id, operation ADD|REMOVE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result {status, message_id(系統訊息)}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fetchMessages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req_id, chat_id, after_id, limit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messages {items[], has_more}（跳號補拉 / 往回看）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listChats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req_id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chats {chats[]}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ack（PDF）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chat_id, message_id（累積式）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759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ping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pong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29200"/>
            <a:ext cx="544068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server 推送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newMessage {chat_id, message_id, kind user|system, text, created_by, created_at, client_msg_id, client_ts, catchup} · chatAdded · chatRemoved · catchupDone · error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5029200"/>
            <a:ext cx="544068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512064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錯誤碼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NOT_MEMBER · CHAT_NOT_FOUND · TOO_MANY_PARTICIPANTS · PAYLOAD_TOO_LARGE（&gt; 4KB）· STORE_ERROR · UNAVAILABLE（重試 8 秒仍無 owner）· BAD_FRAME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資料模型（DynamoDB 5 張表）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08960"/>
                <a:gridCol w="62636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表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鍵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欄位 / 用途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chat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chat_id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name, created_by, created_at；也是 createChat 的 commit marker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membership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chat_id PK + user_id SK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查一個 chat 的所有成員（PDF）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message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chat_id PK + message_id SK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text, created_by, kind, client_msg_id, client_ts, created_at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chat_state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user_id PK + chat_id SK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last_read_message_id；PK=user_id 兼當「我有哪些 chat」索引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client_msg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chat_id PK + client_msg_id SK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→ message_id；TTL 1 天；跨 owner 的持久去重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48640" y="3840480"/>
            <a:ext cx="109728" cy="640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3840480"/>
            <a:ext cx="10972800" cy="640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931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PDF 的不一致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PingFang TC"/>
                <a:ea typeface="PingFang TC"/>
              </a:rPr>
              <a:t>ack 流程一處寫 Membership.last_read_message_id、一處寫 ChatState → 本專案統一放 chat_state；membership 只表達「誰在群裡」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26280"/>
            <a:ext cx="109728" cy="640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368" y="4526280"/>
            <a:ext cx="10972800" cy="640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6177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為什麼不用 GSI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PingFang TC"/>
                <a:ea typeface="PingFang TC"/>
              </a:rPr>
              <a:t>membership 上建 user_id GSI 也能查「我的 chat」，但 GSI 只有最終一致；chat_state 以 user_id 為 PK 可強一致讀。代價：createChat 多寫 N 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212080"/>
            <a:ext cx="109728" cy="6400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5212080"/>
            <a:ext cx="10972800" cy="640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3035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交易上限 → commit-marker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PingFang TC"/>
                <a:ea typeface="PingFang TC"/>
              </a:rPr>
              <a:t>TransactWriteItems 上限 100 items，百人群需 201 筆 → 先 BatchWrite（冪等）、最後 conditional put chat 列 = commit 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97880"/>
            <a:ext cx="109728" cy="6400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5897880"/>
            <a:ext cx="10972800" cy="6400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9893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新成員看不到加入前歷史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64748B"/>
                </a:solidFill>
                <a:latin typeface="PingFang TC"/>
                <a:ea typeface="PingFang TC"/>
              </a:rPr>
              <a:t>ADD 時 chat_state 從目前 head 開始（PDF 未規定；多數聊天 app 的行為）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整體架構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37160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(alice)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3108960"/>
            <a:ext cx="137160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(bob)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828800"/>
            <a:ext cx="1554480" cy="21031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nginx /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/ws least_conn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Upgrade 轉發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240280.0"/>
            <a:ext cx="45720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828800" y="3520440.0"/>
            <a:ext cx="45720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783080" y="194767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828800"/>
            <a:ext cx="164592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gateway-1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stateless · 連線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08960"/>
            <a:ext cx="164592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gateway-2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stateless · 連線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40480" y="2240280.0"/>
            <a:ext cx="45720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840480" y="3520440.0"/>
            <a:ext cx="45720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863840" y="1828800"/>
            <a:ext cx="182880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pubsub-1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shard 0,2,5…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63840" y="3108960"/>
            <a:ext cx="182880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pubsub-2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shard 1,3,4…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43600" y="2240280.0"/>
            <a:ext cx="1920240" cy="0.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943600" y="2240280.0"/>
            <a:ext cx="1920240" cy="1280160.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943600" y="2240280.0"/>
            <a:ext cx="1920240" cy="1280160.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943600" y="3520440.0"/>
            <a:ext cx="1920240" cy="0.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943600" y="1325880"/>
            <a:ext cx="1920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內部 WS（subscribe / publish / deliver）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1828800"/>
            <a:ext cx="1645920" cy="21031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DynamoDB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chat · membership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message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chat_state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client_msg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692640" y="2240280.0"/>
            <a:ext cx="457200" cy="0.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692640" y="3520440.0"/>
            <a:ext cx="457200" cy="0.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217920" y="4434840"/>
            <a:ext cx="1463040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etcd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nodes/ · shards/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120640.0" y="4800600.0"/>
            <a:ext cx="1097280.0" cy="0.0"/>
          </a:xfrm>
          <a:prstGeom prst="line">
            <a:avLst/>
          </a:prstGeom>
          <a:ln w="22225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120640.0" y="3931920"/>
            <a:ext cx="0.0" cy="868680.0"/>
          </a:xfrm>
          <a:prstGeom prst="line">
            <a:avLst/>
          </a:prstGeom>
          <a:ln w="22225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383280" y="4663440"/>
            <a:ext cx="1691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7C3AED"/>
                </a:solidFill>
                <a:latin typeface="PingFang TC"/>
                <a:ea typeface="PingFang TC"/>
              </a:rPr>
              <a:t>watch → ShardMap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3931920"/>
            <a:ext cx="0.0" cy="868680.0"/>
          </a:xfrm>
          <a:prstGeom prst="line">
            <a:avLst/>
          </a:prstGeom>
          <a:ln w="22225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7680960" y="4800600.0"/>
            <a:ext cx="1097280.0" cy="0.0"/>
          </a:xfrm>
          <a:prstGeom prst="line">
            <a:avLst/>
          </a:prstGeom>
          <a:ln w="22225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851392" y="4663440"/>
            <a:ext cx="1737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7C3AED"/>
                </a:solidFill>
                <a:latin typeface="PingFang TC"/>
                <a:ea typeface="PingFang TC"/>
              </a:rPr>
              <a:t>lease + CAS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3949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訊息流：sender → gateway → owner（定序 + 持久化）→ 訂閱該 chat 的 gateway → receiver；shard = crc32(topic) % 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gateway 對每個 chat 只向 owner 訂閱一次（引用計數）→ fan-out 對 M 個 gateway，不是 N 個使用者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dev 模式 ROLE=all：gateway + pub/sub 同一個 process（LocalLink）、SQLite、記憶體 registry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0020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怎麼把訊息推到 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21992"/>
            <a:ext cx="356616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WebSocket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+ stateless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990088"/>
            <a:ext cx="3566160" cy="2834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136392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polling 大量空回應；long polling 每次重建請求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聊天是高頻雙向 → WebSocket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gateway 不擁有 chat，連任意一台都行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代價：長連線狀態 → 斷線重連 + 補收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60020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跨 host 怎麼找到對方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221992"/>
            <a:ext cx="356616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chat 分片 pub/sub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+ etcd registry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990088"/>
            <a:ext cx="3566160" cy="2834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136392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淘汰 user 分片：N 次 RPC、搬 user、無法定序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shard = hash(chat_id) % S，唯一 owner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gateway 向 owner 訂閱一次 → fan-out 對 M 台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連鎖：需要 etcd lease + CAS 決定 owner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187452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60020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怎麼不亂、不丟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21992"/>
            <a:ext cx="356616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per-chat 連續序號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+ 先持久化再 ack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990088"/>
            <a:ext cx="3566160" cy="28346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136392"/>
            <a:ext cx="3200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lock 內 message_id = head+1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寫進 DB 成功才回 SUCCESS、才推送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連續 → client 看到跳號就知道漏了、補拉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連鎖：owner 會掛 → fencing + client_msg_id 去重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94360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①決定「怎麼連」、②決定「怎麼找到對的人」、③決定「怎麼不亂、不丟」—— 下面逐項展開。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ROUTING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user 分片 vs chat 分片 pub/sub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949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（淘汰）user ownership consistent hashing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017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registry 記 user_id → node；發訊時找每個收件人的 node 發 RPC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問題 1：每則訊息 N 次 RPC（百人群聊 = 百次）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問題 2：scale 時要搬 user ownership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問題 3（致命）：同一個 chat 的訊息由不同 owner 處理 → 無法強制單一順序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0020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（本專案）以 chat 為核心的 pub/sub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017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77440"/>
            <a:ext cx="50292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shard = crc32(topic) % S；每個 shard 同一時間只有一個 owner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gateway 對每個 chat 向 owner subscribe(c:{chat}) 一次；本台第一個在看的人才訂、最後一個離開才退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fan-out 對 M ≤ min(N, gateway 數) 個 gateway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每個 chat 唯一 owner → 定序可行（深入 2）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0" y="1874519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8640" y="5486400"/>
            <a:ext cx="111099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不能用 Python hash()：字串 hash 每個 process 隨機化，兩台 gateway 會算出不同 shard → 用 crc32。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固定 S 個 shard（同 Kafka partition / Redis Cluster slots）+ etcd 明確記 owner，比 hash ring 好推理（附錄 A）。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1 · ETCD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etcd key 佈局與 shard 擁有權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12064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200">
                <a:solidFill>
                  <a:srgbClr val="64748B"/>
                </a:solidFill>
                <a:latin typeface="Menlo"/>
              </a:rPr>
              <a:t># pub/sub 節點（附 lease，TTL 5s）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nodes/{node_id}  → {ws}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64748B"/>
                </a:solidFill>
                <a:latin typeface="Menlo"/>
              </a:rPr>
              <a:t># shard owner（附 owner 的 lease）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shards/{i}       → {node_id, ws}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64748B"/>
                </a:solidFill>
                <a:latin typeface="Menlo"/>
              </a:rPr>
              <a:t># CAS claim：只有一人成功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txn compare create_revision(shards/i) == 0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    success put shards/i (lease=mine)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0" y="1508760"/>
            <a:ext cx="5715000" cy="23774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60020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lease grant(TTL 5s) → put nodes/{id} → 每 TTL/3 keepalive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公平份額 ceil(S / 活著的節點數)；不足就搶沒人持有的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新節點加入：持有過多者 drain → release（2 秒遲滯避免來回搶）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節點死掉 → lease 過期 → key 全刪 → 他人 watch 到、jitter 後搶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graceful（SIGTERM）主動 revoke lease → 立即轉移</a:t>
            </a:r>
          </a:p>
          <a:p>
            <a:pPr>
              <a:spcAft>
                <a:spcPts val="5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gateway：range 載入 + watch → 本地 ShardMap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690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實測（compose，S = 16）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26280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0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16736" y="4526280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00784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4832" y="4526280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4526280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6976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10328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16736" y="4910328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00784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84832" y="4910328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68880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52928" y="4910328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36976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340096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開機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自動分成 8 / 8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21024" y="4855464"/>
            <a:ext cx="539495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297679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681727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65775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49823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33871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19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01967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015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79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8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81727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65775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49823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33871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19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01967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986015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79" y="5340096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hard kill pubsub-1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~5.3 秒後 pubsub-2 接手全部 16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370063" y="4855464"/>
            <a:ext cx="539495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8046718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30766" y="4526280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814814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98862" y="4526280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82910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66958" y="4526280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51006" y="4526280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735054" y="4526280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46718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30766" y="4910328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814814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98862" y="4910328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11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82910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966958" y="4910328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51006" y="4910328"/>
            <a:ext cx="329184" cy="329184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735054" y="4910328"/>
            <a:ext cx="329184" cy="32918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PingFang TC"/>
                <a:ea typeface="PingFang TC"/>
              </a:rPr>
              <a:t>15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18" y="5340096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pubsub-1 重新加入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自動 rebalance 回 8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色塊 = owner：橘 pubsub-1、藍 pubsub-2（demo 頁 shard grid 同款）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訊息流 · SEQUENCE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一則訊息的完整路徑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417320"/>
            <a:ext cx="1554480" cy="45720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sender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097280" y="1874520"/>
            <a:ext cx="0" cy="393192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240280" y="1417320"/>
            <a:ext cx="1554480" cy="4572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gateway-1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7520" y="1874520"/>
            <a:ext cx="0" cy="393192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417320"/>
            <a:ext cx="1554480" cy="4572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owner (pubsub)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20640" y="1874520"/>
            <a:ext cx="0" cy="393192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537960" y="1417320"/>
            <a:ext cx="1554480" cy="4572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DynamoDB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15200" y="1874520"/>
            <a:ext cx="0" cy="393192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458200" y="1417320"/>
            <a:ext cx="1554480" cy="4572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gateway-2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35440" y="1874520"/>
            <a:ext cx="0" cy="393192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0195560" y="1417320"/>
            <a:ext cx="1554480" cy="45720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receiver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0" y="1874520"/>
            <a:ext cx="0" cy="3931920"/>
          </a:xfrm>
          <a:prstGeom prst="line">
            <a:avLst/>
          </a:prstGeom>
          <a:ln w="127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97280" y="2286000"/>
            <a:ext cx="192024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22960" y="20116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PingFang TC"/>
                <a:ea typeface="PingFang TC"/>
              </a:rPr>
              <a:t>① sendMessage {client_msg_id}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17520" y="2697480"/>
            <a:ext cx="210312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834640" y="242316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PingFang TC"/>
                <a:ea typeface="PingFang TC"/>
              </a:rPr>
              <a:t>② publish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51960" y="2880360"/>
            <a:ext cx="1737360" cy="566928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050" b="1">
                <a:solidFill>
                  <a:srgbClr val="FFFFFF"/>
                </a:solidFill>
                <a:latin typeface="PingFang TC"/>
                <a:ea typeface="PingFang TC"/>
              </a:rPr>
              <a:t>③ async with chat.lock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PingFang TC"/>
                <a:ea typeface="PingFang TC"/>
              </a:rPr>
              <a:t>mid = head + 1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20640" y="3749039"/>
            <a:ext cx="2194560" cy="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983480" y="3474719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059669"/>
                </a:solidFill>
                <a:latin typeface="PingFang TC"/>
                <a:ea typeface="PingFang TC"/>
              </a:rPr>
              <a:t>④ TransactWrite（2 items）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5120640" y="4114800"/>
            <a:ext cx="2194560" cy="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983480" y="3840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059669"/>
                </a:solidFill>
                <a:latin typeface="PingFang TC"/>
                <a:ea typeface="PingFang TC"/>
              </a:rPr>
              <a:t>OK：attribute_not_exists 通過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4526280"/>
            <a:ext cx="4114800" cy="0"/>
          </a:xfrm>
          <a:prstGeom prst="line">
            <a:avLst/>
          </a:prstGeom>
          <a:ln w="1905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120640" y="4251960"/>
            <a:ext cx="4114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D97706"/>
                </a:solidFill>
                <a:latin typeface="PingFang TC"/>
                <a:ea typeface="PingFang TC"/>
              </a:rPr>
              <a:t>⑤ deliver（仍在鎖內）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017520" y="4846320"/>
            <a:ext cx="2103120" cy="0"/>
          </a:xfrm>
          <a:prstGeom prst="line">
            <a:avLst/>
          </a:prstGeom>
          <a:ln w="1905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834640" y="457200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D97706"/>
                </a:solidFill>
                <a:latin typeface="PingFang TC"/>
                <a:ea typeface="PingFang TC"/>
              </a:rPr>
              <a:t>⑥ published {mid}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235440" y="4846320"/>
            <a:ext cx="173736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869680" y="457200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PingFang TC"/>
                <a:ea typeface="PingFang TC"/>
              </a:rPr>
              <a:t>newMessage #mid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1097280" y="5257800"/>
            <a:ext cx="1920240" cy="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4983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059669"/>
                </a:solidFill>
                <a:latin typeface="PingFang TC"/>
                <a:ea typeface="PingFang TC"/>
              </a:rPr>
              <a:t>⑦ result SUCCESS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9235440" y="5257800"/>
            <a:ext cx="1737360" cy="0"/>
          </a:xfrm>
          <a:prstGeom prst="line">
            <a:avLst/>
          </a:prstGeom>
          <a:ln w="1905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869680" y="498348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4748B"/>
                </a:solidFill>
                <a:latin typeface="PingFang TC"/>
                <a:ea typeface="PingFang TC"/>
              </a:rPr>
              <a:t>ack（累積式）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5943600"/>
            <a:ext cx="11247120" cy="6858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SUCCESS 的時點 = DB 寫入成功之後：sender 收到 SUCCESS 時訊息一定已持久化；DB 失敗 → 不 fan-out、回 STORE_ERROR。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fan-out 在鎖內 → 推送順序 = message_id 順序；gateway 每 500ms 批次把 ack 寫進 chat_state。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2 · ORDERING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為什麼用 per-chat 連續序號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109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914400"/>
                <a:gridCol w="2103120"/>
                <a:gridCol w="4069080"/>
              </a:tblGrid>
              <a:tr h="43891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方案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有序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連續（可偵測漏訊）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問題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client timestamp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</a:t>
                      </a:r>
                    </a:p>
                  </a:txBody>
                  <a:tcPr marT="25400" marB="25400" marL="101600" marR="762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</a:t>
                      </a:r>
                    </a:p>
                  </a:txBody>
                  <a:tcPr marT="25400" marB="25400" marL="101600" marR="762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</a:t>
                      </a:r>
                    </a:p>
                  </a:txBody>
                  <a:tcPr marT="25400" marB="25400" marL="101600" marR="762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clock skew；同毫秒不唯一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Snowflake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✓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✓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</a:t>
                      </a:r>
                    </a:p>
                  </a:txBody>
                  <a:tcPr marT="25400" marB="25400" marL="101600" marR="762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缺號是常態 → 無法判斷漏了沒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UUIDv1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✓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✓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</a:t>
                      </a:r>
                    </a:p>
                  </a:txBody>
                  <a:tcPr marT="25400" marB="25400" marL="101600" marR="762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同上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per-chat 連續序號（owner 指派）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✓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✓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✓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單點指派：每 chat ~100 msg/s（百人上限足夠）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client 端排序規則（index.html onNewMessage）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89120"/>
            <a:ext cx="3566160" cy="10058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id == lastSeen + 1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顯示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並 drain 緩衝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540" y="4389120"/>
            <a:ext cx="3566160" cy="10058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id &gt; lastSeen + 1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漏了 → 緩衝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fetchMessages(after=lastSeen)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4389120"/>
            <a:ext cx="3566160" cy="10058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id ≤ lastSeen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重複 → 丟掉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7784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例：看到 #7、收到 #9 → 一定漏了 #8 → 先緩衝 #9、補拉 → 依序顯示。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實測：兩個分頁分連 gw-1 / gw-2、同時各連發 20 則到同一個 chat → 雙方 #1–#44 順序完全一致、零重排零重複；跨 gateway ack p50 ~5ms。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深入 3 · DURABILITY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離線補收與耐久性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2670048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persist-before-ack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2670048" cy="3017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377440"/>
            <a:ext cx="239572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SUCCESS 時訊息一定已在 DynamoDB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DB 寫失敗 → 不 fan-out、回 FAILURE STORE_ERROR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client 保留「送出失敗、可重送」狀態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74136" y="1600200"/>
            <a:ext cx="2670048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client_msg_id 去重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240280"/>
            <a:ext cx="2670048" cy="3017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1296" y="2377440"/>
            <a:ext cx="239572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逾時重送、gateway 重試、跨 failover 重試都用同一個 id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owner LRU（快）或 client_msg 表（跨 owner）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回同一個 message_id、dup=true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600200"/>
            <a:ext cx="2670048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先訂閱、再補收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240280"/>
            <a:ext cx="2670048" cy="3017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6792" y="2377440"/>
            <a:ext cx="239572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連上 → welcome → subscribe → messages_after(last_read)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反過來：補收完到訂閱前的訊息會漏掉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先訂閱：最壞收到重複 → client 依 id 去重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一次補收上限 200 則；has_more 時自己 fetch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25128" y="1600200"/>
            <a:ext cx="2670048" cy="5486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ack 合併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25128" y="2240280"/>
            <a:ext cx="2670048" cy="3017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62288" y="2377440"/>
            <a:ext cx="2395728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client 累積式 ack（只報最大連號）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gateway 每 500ms 批次寫 chat_state（只進不退）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gateway 掛 → 最多重送 500ms 內訊息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at-least-once + client 去重 = 不遺失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486400"/>
            <a:ext cx="111099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實測：bob 斷線期間 alice 送 5 則 → bob 重連收到 #21–#25（catchup=true）；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重送同 client_msg_id → dup=true、同一個 message_id。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FAILOVER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Failover 時序：hard vs graceful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758952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6309360"/>
              </a:tblGrid>
              <a:tr h="535577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時間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hard kill（SIGKILL pubsub-1，持有 chat X 的 shard 5）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t = 0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pubsub-1 被 SIGKILL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t = 0 ~ 5s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gateway → pubsub-1 內部 WS 斷線 → 清掉這些 topic 的訂閱；alice 送訊：link down → 等 shardmap 變更（重試，同 client_msg_id）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t ≈ 5s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etcd：pubsub-1 lease 過期 → nodes/pubsub-1、shards/* 被刪 → watch 事件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t ≈ 5.1s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pubsub-2 CAS 搶下 shard；狀態從 DB 重建（head = max(message_id)，consistent read）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gateway watch 到新 owner → 重訂閱 → subscribed 回 head → 與 last_forwarded 比對，缺的從 DB 補送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535577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alice 那則重試到 pubsub-2 → 寫入 → SUCCESS（實測最慢一則 4.3s）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8412480" y="1463040"/>
            <a:ext cx="324612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hard kill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0" y="2057400"/>
            <a:ext cx="3246120" cy="685800"/>
          </a:xfrm>
          <a:prstGeom prst="roundRect">
            <a:avLst/>
          </a:prstGeom>
          <a:solidFill>
            <a:srgbClr val="FEE2E2"/>
          </a:solidFill>
          <a:ln>
            <a:solidFill>
              <a:srgbClr val="FEE2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2600" b="1">
                <a:solidFill>
                  <a:srgbClr val="DC2626"/>
                </a:solidFill>
                <a:latin typeface="PingFang TC"/>
                <a:ea typeface="PingFang TC"/>
              </a:rPr>
              <a:t>≈ 5 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2788920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= lease TTL；最慢一則 4.3s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3337560"/>
            <a:ext cx="324612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graceful（SIGTERM）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3931920"/>
            <a:ext cx="3246120" cy="685800"/>
          </a:xfrm>
          <a:prstGeom prst="roundRect">
            <a:avLst/>
          </a:prstGeom>
          <a:solidFill>
            <a:srgbClr val="DCFCE7"/>
          </a:solidFill>
          <a:ln>
            <a:solidFill>
              <a:srgbClr val="DCF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2600" b="1">
                <a:solidFill>
                  <a:srgbClr val="059669"/>
                </a:solidFill>
                <a:latin typeface="PingFang TC"/>
                <a:ea typeface="PingFang TC"/>
              </a:rPr>
              <a:t>42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4663440"/>
            <a:ext cx="3246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fence → revoke lease → 立即轉移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440680"/>
            <a:ext cx="111556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500ms SLA 在 hard failover 窗口內不成立；降 TTL 可縮短，但 GC 停頓被誤判踢掉的機率上升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gateway 最多重試 8 秒（涵蓋一次 hard failover），之後 FAILURE UNAVAILABLE，client 可用同 client_msg_id 重送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FENCING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Fencing 三層 + 殭屍舊 owner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566160" cy="5029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etcd lease + CAS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6616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同一時間只有一個 owner</a:t>
            </a:r>
          </a:p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create_revision == 0 才能 claim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540" y="1554480"/>
            <a:ext cx="35661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自我 fencing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0540" y="2103120"/>
            <a:ext cx="356616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keepalive 超過 TTL−1s 沒成功</a:t>
            </a:r>
          </a:p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→ 拒絕 publish；SIGTERM 也先 fence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1554480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DB conditional put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2103120"/>
            <a:ext cx="356616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attribute_not_exists(message_id)</a:t>
            </a:r>
          </a:p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撞到 → IdConflict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殭屍舊 owner（GC 停頓、網路分割）在 fencing 前寫了 N+1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80"/>
            <a:ext cx="1719072" cy="10058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新 owner 接手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讀到 head = 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67712" y="4114800.0"/>
            <a:ext cx="16002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27732" y="3611880"/>
            <a:ext cx="1719072" cy="10058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殭屍寫入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N+1 寫進 DB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146804" y="4114800.0"/>
            <a:ext cx="16002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306824" y="3611880"/>
            <a:ext cx="1719072" cy="10058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新 owner 寫 N+1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attribute_not_exists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→ IdConflict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25896" y="4114800.0"/>
            <a:ext cx="16002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85916" y="3611880"/>
            <a:ext cx="1719072" cy="10058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重讀 head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向 etcd 確認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仍是 owner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904988" y="4114800.0"/>
            <a:ext cx="16002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065008" y="3611880"/>
            <a:ext cx="1719072" cy="10058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寫 N+2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SUCCESS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784080" y="4114800.0"/>
            <a:ext cx="16002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944100" y="3611880"/>
            <a:ext cx="1719072" cy="10058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接收端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看到跳號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補拉 N+1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846320"/>
            <a:ext cx="11109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結果：無遺失、無重號 —— DB 順序就是唯一真相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3212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逾時但其實寫成功：重試命中 client_msg 條件 → 同 id、dup=true</a:t>
            </a:r>
          </a:p>
          <a:p>
            <a:pPr>
              <a:spcAft>
                <a:spcPts val="500"/>
              </a:spcAft>
            </a:pPr>
            <a:r>
              <a:rPr sz="1250" b="0">
                <a:solidFill>
                  <a:srgbClr val="0F172A"/>
                </a:solidFill>
                <a:latin typeface="PingFang TC"/>
                <a:ea typeface="PingFang TC"/>
              </a:rPr>
              <a:t>•  etcd 整個掛掉：既有 owner 繼續服務（沒人能搶），但無法 failover → 正式版 etcd 3 節點跨 3 AZ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實測 · VERIFIED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實測結果（compose，本機）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086600"/>
              </a:tblGrid>
              <a:tr h="470262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情境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結果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跨 gateway 連發 50 則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全部 SUCCESS、1..50 連號、ack p50 5ms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兩個分頁同時各連發 20 則到同一個 chat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雙方 #1–#44 順序完全一致、零重排零重複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hard kill chat owner（連發中）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~5.3s 後存活節點接手 16 shard；60 則全 SUCCESS、連號無缺無重；最慢一則 4.3s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graceful 下線 chat owner（連發中）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60 則全 SUCCESS、最慢一則 42ms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owner 重新加入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自動 rebalance 回 8/8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離線 5 則後重連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收到 #21–#25（catchup）</a:t>
                      </a:r>
                    </a:p>
                  </a:txBody>
                  <a:tcPr marT="25400" marB="25400" marL="101600" marR="76200" anchor="ctr"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98348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scripts/smoke_ws.py（dev 與 compose 共用）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5349240"/>
            <a:ext cx="11109960" cy="123444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50">
                <a:solidFill>
                  <a:srgbClr val="64748B"/>
                </a:solidFill>
                <a:latin typeface="Menlo"/>
              </a:rPr>
              <a:t># 建群 → chatAdded → 連發 N 則（1..N 連號無重複）→ 離線補收 → 重送 dup → ADD 系統訊息 → 101 人被拒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0F172A"/>
                </a:solidFill>
                <a:latin typeface="Menlo"/>
              </a:rPr>
              <a:t>python scripts/smoke_ws.py ws://localhost:8030/gw1/ws ws://localhost:8030/gw2/ws \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64748B"/>
                </a:solidFill>
                <a:latin typeface="Menlo"/>
              </a:rPr>
              <a:t>       --burst 60 --interval 0.1 --kill-owner hard        # 送到 1/3 時殺掉這個 chat 的 owner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LOCAL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本地部署（docker compose）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60350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46304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服務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port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nginx（入口 + demo 頁；/ws least_conn、/gw1/ /gw2/ 指定）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8030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gateway-1 / gateway-2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8031 / 8032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pubsub-1 / pubsub-2（/debug/state）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8041 / 8042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etcd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23790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DynamoDB Local（init-tables 一次性建表）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8101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0" y="1463040"/>
            <a:ext cx="4800600" cy="12801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cd Messenger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docker compose up --build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0F172A"/>
                </a:solidFill>
                <a:latin typeface="Menlo"/>
              </a:rPr>
              <a:t>open http://localhost:8030/</a:t>
            </a:r>
          </a:p>
          <a:p>
            <a:pPr>
              <a:spcAft>
                <a:spcPts val="100"/>
              </a:spcAft>
            </a:pPr>
            <a:r>
              <a:rPr sz="1200">
                <a:solidFill>
                  <a:srgbClr val="64748B"/>
                </a:solidFill>
                <a:latin typeface="Menlo"/>
              </a:rPr>
              <a:t># 開兩個分頁：alice / bob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2880360"/>
            <a:ext cx="4800600" cy="1325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2944368"/>
            <a:ext cx="44805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dev 模式（改 code 用）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uvicorn app.main:app --port 8030 --timeout-graceful-shutdown 5；ROLE=all、SQLite、記憶體 registry，零外部依賴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4348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推薦玩法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846320"/>
            <a:ext cx="2057400" cy="10515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兩個分頁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分連 gw-1 / gw-2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606040" y="5372100.0"/>
            <a:ext cx="20574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811780" y="4846320"/>
            <a:ext cx="2057400" cy="10515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建群互傳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看 #id 與 owner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69180" y="5372100.0"/>
            <a:ext cx="20574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074920" y="4846320"/>
            <a:ext cx="2057400" cy="10515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連發 20 則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同時 hard kill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白框 shard 的 owner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2320" y="5372100.0"/>
            <a:ext cx="20574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338060" y="4846320"/>
            <a:ext cx="2057400" cy="10515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~5 秒後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shard grid 變色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訊息照樣連號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395460" y="5372100.0"/>
            <a:ext cx="20574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601200" y="4846320"/>
            <a:ext cx="2057400" cy="10515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50" b="1">
                <a:solidFill>
                  <a:srgbClr val="FFFFFF"/>
                </a:solidFill>
                <a:latin typeface="PingFang TC"/>
                <a:ea typeface="PingFang TC"/>
              </a:rPr>
              <a:t>compose start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pubsub-1 重新加入</a:t>
            </a:r>
          </a:p>
          <a:p>
            <a:pPr algn="ctr"/>
            <a:r>
              <a:rPr sz="1150" b="0">
                <a:solidFill>
                  <a:srgbClr val="FFFFFF"/>
                </a:solidFill>
                <a:latin typeface="PingFang TC"/>
                <a:ea typeface="PingFang TC"/>
              </a:rPr>
              <a:t>rebalance 8/8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2648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port 避開同 repo 其他 demo（8000/8010/8020、5432-5434、6379-6381）。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PROTOTYPE → PRODUCTION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原型 vs Production（env-gated）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1099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474720"/>
                <a:gridCol w="3520440"/>
                <a:gridCol w="2468880"/>
              </a:tblGrid>
              <a:tr h="4470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dev（單 process）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本地部署 / 正式版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切換 env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程序角色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ROLE=all：gateway + pub/sub 同一個 uvicorn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ROLE=gateway / ROLE=pubsub 分開部署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ROLE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內部連線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LocalLink（直接呼叫）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WsLink（內部 WebSocket）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 ROLE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Registry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記憶體（本節點持有全部 shard）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etcd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ETCD_URL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儲存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SQLite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DynamoDB Local（compose）/ DynamoDB（AWS）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DYNAMO_TABLE_PREFIX · DYNAMO_ENDPOINT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shard 數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16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16（compose）/ 64（AWS demo）/ 4096（正式）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NUM_SHARDS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入口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uvicorn :8030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nginx :8030 / CloudFront → ALB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部署形態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Auth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?user_id=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JWT ?token=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AUTH_ENABLED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debug kill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開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compose 開 / AWS 關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ALLOW_DEBUG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80644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其他：LEASE_TTL_S（5）· MAX_PARTICIPANTS（100）· CATCHUP_LIMIT（200）· ACK_FLUSH_MS（500）· PUBLISH_DEADLINE_S（8）。本地部署 = 正式版 code path。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部署（Terraform）+ CI/CD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128016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wss://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0" y="1554480"/>
            <a:ext cx="173736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WAF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23360" y="1554480"/>
            <a:ext cx="192024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只收 CloudFront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X-Origin-Verify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173736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gateway ASG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t4g.small ×2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1554480"/>
            <a:ext cx="1737360" cy="7772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pubsub ASG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t4g.small ×2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37360" y="1943100.0"/>
            <a:ext cx="27432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749040" y="1943100.0"/>
            <a:ext cx="27432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43600" y="1943100.0"/>
            <a:ext cx="27432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955280" y="1943100.0"/>
            <a:ext cx="274320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635240" y="128016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4748B"/>
                </a:solidFill>
                <a:latin typeface="PingFang TC"/>
                <a:ea typeface="PingFang TC"/>
              </a:rPr>
              <a:t>內部 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0" y="1554480"/>
            <a:ext cx="14630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DynamoDB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5 張表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66960" y="1943100.0"/>
            <a:ext cx="274320" cy="0.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498079" y="2697480"/>
            <a:ext cx="1463040" cy="5486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etcd t4g.micro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7086600" y="2971800"/>
            <a:ext cx="411479" cy="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086600" y="2331720"/>
            <a:ext cx="0" cy="640080"/>
          </a:xfrm>
          <a:prstGeom prst="line">
            <a:avLst/>
          </a:prstGeom>
          <a:ln w="1524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509760" y="2331720"/>
            <a:ext cx="0" cy="640080"/>
          </a:xfrm>
          <a:prstGeom prst="line">
            <a:avLst/>
          </a:prstGeom>
          <a:ln w="1524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8961120" y="2971800"/>
            <a:ext cx="548640" cy="0"/>
          </a:xfrm>
          <a:prstGeom prst="line">
            <a:avLst/>
          </a:prstGeom>
          <a:ln w="15240">
            <a:solidFill>
              <a:srgbClr val="7C3AE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34290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為何沒有 API Gateway：HTTP API 不能代理 WebSocket；WebSocket API 的 @connections fan-out = 每個連線一次 POST（PDF 淘汰的 N-RPC），且 2 小時連線上限、按訊息計費（附錄 D）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0F172A"/>
                </a:solidFill>
                <a:latin typeface="PingFang TC"/>
                <a:ea typeface="PingFang TC"/>
              </a:rPr>
              <a:t>•  idle timeout：ALB 300s、nginx 3600s；server 每 20s WS ping、client 每 25s app 層 ping。etcd demo 單台（SPOF），正式版 3 節點跨 3 AZ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CI/CD（deploy-messenger.yml，workflow_dispatch）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983480"/>
            <a:ext cx="1737360" cy="10058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94560" y="5486400.0"/>
            <a:ext cx="164592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359152" y="4983480"/>
            <a:ext cx="1737360" cy="10058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096512" y="5486400.0"/>
            <a:ext cx="164592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4261104" y="4983480"/>
            <a:ext cx="1737360" cy="10058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參數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/messenger/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98464" y="5486400.0"/>
            <a:ext cx="164592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6163056" y="4983480"/>
            <a:ext cx="1737360" cy="10058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① pubsub 逐台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max-concurrency 1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SIGTERM → 轉移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900416" y="5486400.0"/>
            <a:ext cx="164592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065008" y="4983480"/>
            <a:ext cx="1737360" cy="10058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② gateway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一次 50%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client 重連另一半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802368" y="5486400.0"/>
            <a:ext cx="164592" cy="0.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966960" y="4983480"/>
            <a:ext cx="1737360" cy="10058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etcd 不受影響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(tag 不同)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172200"/>
            <a:ext cx="11155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先 pubsub 逐台：同時間只有一台在換 → 不會所有 owner 同時下線；terraform apply 會計費，不用時 destroy。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技術選型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被淘汰的選項與理由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10996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560320"/>
                <a:gridCol w="5897880"/>
              </a:tblGrid>
              <a:tr h="448056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淘汰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取代為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理由</a:t>
                      </a:r>
                    </a:p>
                  </a:txBody>
                  <a:tcPr marT="25400" marB="25400" marL="101600" marR="76200" anchor="ctr">
                    <a:solidFill>
                      <a:srgbClr val="2563E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Redis Pub/Sub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自建 pub/sub（= shard owner）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沒有持久化也不負責定序，仍要另做 sequencer；cluster 模式 7.0 前全叢集廣播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Kafka（partition = shard）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自建 pub/sub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順序與耐久都好，但延遲與營運較重、gateway 要消費大量 partition；一 chat 一 topic 不可行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Consul / ZooKeeper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etcd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Consul health check 模型偏服務、不是 lock；ZooKeeper JVM、ops 重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Redis key + TTL registry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etcd lease + txn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不是共識系統，腦裂時會雙主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Snowflake / UUIDv1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per-chat 連續序號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有序但不連續 → client 無法用跳號偵測漏訊息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Cassandra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DynamoDB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LWT 慢、ops 重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Postgres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DynamoDB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 primary 寫入上限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gRPC（內部）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 WebSocket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要 codegen；gRPC bidi 是正式版升級路徑</a:t>
                      </a:r>
                    </a:p>
                  </a:txBody>
                  <a:tcPr marT="25400" marB="25400" marL="101600" marR="76200" anchor="ctr">
                    <a:solidFill>
                      <a:srgbClr val="F1F5F9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API Gateway WebSocket API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→ ALB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@connections = N 次 RPC、2 小時連線上限、按訊息計費</a:t>
                      </a:r>
                    </a:p>
                  </a:txBody>
                  <a:tcPr marT="25400" marB="25400" marL="101600" marR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264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etcd client：httpx 打 v3 JSON gateway，不裝 grpcio（aetcd 需 grpc；python-etcd3 已停更、與 protobuf 4 不相容）。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FRAMEWORK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45 分鐘怎麼講 + 常見扣分點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109728" cy="65836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417320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508760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0–5 min：需求釐清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群組上限？離線補收？順序要多嚴格？→ 算 1 億連線 / 58K–175K msg/s / 1TB/天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67128"/>
            <a:ext cx="109728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167128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58568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5–15 min：協定 + API + 資料模型 + High-Level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WebSocket vs polling/SSE；5 張表（chat_state 以 user_id 為 PK）；gateway / pub/sub / etcd / DynamoDB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916936"/>
            <a:ext cx="10972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2916936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008376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15–35 min：三個深入（面試官挑 1–2 追問）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① user 分片 vs chat 分片 + etcd｜② 連續序號 + client 跳號補拉｜③ persist-before-ack、先訂閱再補收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666744"/>
            <a:ext cx="10972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3666744"/>
            <a:ext cx="10972800" cy="658368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758184"/>
            <a:ext cx="10607040" cy="521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35–45 min：failover 與收尾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lease 過期 / graceful revoke、fencing 三層、殭屍 owner；Python 規模限制；反問面試官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DC2626"/>
                </a:solidFill>
                <a:latin typeface="PingFang TC"/>
                <a:ea typeface="PingFang TC"/>
              </a:rPr>
              <a:t>常見扣分點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用 client timestamp 定序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clock skew、不唯一；要說 owner 指派 per-chat 序號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98064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89504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80944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以 user 分片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N 次 RPC、搬 user、同 chat 多 owner → 無法定序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47488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38928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30368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ack 前沒持久化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回了 SUCCESS 才寫 DB → owner 掛了訊息就丟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6912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88352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79792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離線補收空窗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先補收再訂閱 → 中間訊息漏掉；要先訂閱、依 id 去重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46336" y="4846320"/>
            <a:ext cx="91440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637776" y="4846320"/>
            <a:ext cx="2057400" cy="1371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9216" y="4919472"/>
            <a:ext cx="1874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0F172A"/>
                </a:solidFill>
                <a:latin typeface="PingFang TC"/>
                <a:ea typeface="PingFang TC"/>
              </a:rPr>
              <a:t>忽略 failover 雙主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沒 lease / fencing → 殭屍 owner 重號；要說 CAS + conditional put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附錄總覽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DESIGN.md 附錄 A–L 一頁列表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固定 S shard vs consistent hashing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owner 狀態可從 DB 重建；要的是明確擁有權轉移；S 一開始給夠（4096）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432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267712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Failover 與 fencing 時序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lease 過期 ≈5s / graceful 42ms；逾時重試 dup、殭屍 owner、etcd 掛掉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18104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72384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DynamoDB 交易上限與 createChat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201 items &gt; 100 → BatchWrite + 最後 conditional put chat = commit 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877056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WebSocket 過 CloudFront / ALB / nginx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淘汰 API GW；X-Origin-Verify；idle timeout 與 ping；部署斷線重連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27448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681728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Backpressure / 慢消費者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每條連線送出佇列上限 1000，滿了就斷線（1013），重連走補收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53212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486400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100 人上限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createChat 與 ADD 都檢查；ADD 在 owner 上與其他成員變更序列化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0876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463040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Rebalance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公平份額下降 → drain（NOT_OWNER）→ release；gateway 刷新 shardmap 重試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313432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267712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WebSocket 上的 Auth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瀏覽器 WS 不能自訂 header → ?token=；handshake 驗簽；log 遮 query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118104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072384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Monitoring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CloudWatch + metric filter：shard_takeover / id_conflict / publish_failed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22776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J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877056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清理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client_msg 用 DynamoDB TTL（1 天）；訊息永久保留；孤兒列可排程清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727448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4681728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錯誤處理與降級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owner 不在重試 8 秒 → UNAVAILABLE；DB 錯 STORE_ERROR；壞 frame 不斷線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5532120"/>
            <a:ext cx="45720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 lIns="38100" r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5486400"/>
            <a:ext cx="4846320" cy="804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Python 規模限制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4748B"/>
                </a:solidFill>
                <a:latin typeface="PingFang TC"/>
                <a:ea typeface="PingFang TC"/>
              </a:rPr>
              <a:t>單 process ~5 萬 WS；架構可原封不動搬到 Go / Erlang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