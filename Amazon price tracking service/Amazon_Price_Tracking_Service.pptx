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1828800"/>
            <a:ext cx="1371600" cy="137160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4400" b="1">
                <a:solidFill>
                  <a:srgbClr val="FFFFFF"/>
                </a:solidFill>
                <a:latin typeface="PingFang TC"/>
                <a:ea typeface="PingFang TC"/>
              </a:rPr>
              <a:t>$↓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383280"/>
            <a:ext cx="10515600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4400" b="1">
                <a:solidFill>
                  <a:srgbClr val="FFFFFF"/>
                </a:solidFill>
                <a:latin typeface="PingFang TC"/>
                <a:ea typeface="PingFang TC"/>
              </a:rPr>
              <a:t>Amazon Price Tracking Service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CBD5E1"/>
                </a:solidFill>
                <a:latin typeface="PingFang TC"/>
                <a:ea typeface="PingFang TC"/>
              </a:rPr>
              <a:t>System Design demo — 價格歷史、降價通知與眾包爬取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64748B"/>
                </a:solidFill>
                <a:latin typeface="PingFang TC"/>
                <a:ea typeface="PingFang TC"/>
              </a:rPr>
              <a:t>FastAPI 原型 · 真抓 amazon.com（curl_cffi TLS 指紋）· 對齊 PDF 設計題 · 附 AWS Terraform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01 · REQUIREMENTS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需求與規模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45920"/>
            <a:ext cx="3566160" cy="54864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600" b="1">
                <a:solidFill>
                  <a:srgbClr val="FFFFFF"/>
                </a:solidFill>
                <a:latin typeface="PingFang TC"/>
                <a:ea typeface="PingFang TC"/>
              </a:rPr>
              <a:t>功能性 (FR)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286000"/>
            <a:ext cx="3566160" cy="402336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468880"/>
            <a:ext cx="3200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查看 Amazon 商品價格歷史（網站 / Chrome extension）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訂閱降價通知，自訂價格門檻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Out of scope：站內搜尋、跨零售商比價、評論整合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43400" y="1645920"/>
            <a:ext cx="3566160" cy="54864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600" b="1">
                <a:solidFill>
                  <a:srgbClr val="FFFFFF"/>
                </a:solidFill>
                <a:latin typeface="PingFang TC"/>
                <a:ea typeface="PingFang TC"/>
              </a:rPr>
              <a:t>非功能性 (NFR)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2286000"/>
            <a:ext cx="3566160" cy="402336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26280" y="2468880"/>
            <a:ext cx="3200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可用性 &gt; 一致性（eventual consistency 可接受）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5 億商品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價格歷史查詢 &lt; 500ms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價格變動後 1 小時內通知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38160" y="1645920"/>
            <a:ext cx="3566160" cy="548640"/>
          </a:xfrm>
          <a:prstGeom prst="roundRect">
            <a:avLst/>
          </a:prstGeom>
          <a:solidFill>
            <a:srgbClr val="D97706"/>
          </a:solidFill>
          <a:ln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600" b="1">
                <a:solidFill>
                  <a:srgbClr val="FFFFFF"/>
                </a:solidFill>
                <a:latin typeface="PingFang TC"/>
                <a:ea typeface="PingFang TC"/>
              </a:rPr>
              <a:t>容量數學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8160" y="2286000"/>
            <a:ext cx="3566160" cy="402336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21040" y="2468880"/>
            <a:ext cx="3200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盲爬：5e8 / (1000 IP × 1 req/s) / 86400 ≈ 5.8 天掃一輪 → 淘汰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寫入：5 億 × 每天 1 次 ≈ 5.8K writes/s → append-only、依商品分區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歷史：每小時一筆 × 2 年 = 17,520 列 / 商品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訂閱查詢：索引 (product_id, price_threshold, user_id) range scan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02 · API DESIGN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API 設計（對齊 PDF 兩支 + 眾包 / crawler / 彙總端點）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1106424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3931920"/>
                <a:gridCol w="5943600"/>
              </a:tblGrid>
              <a:tr h="415636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方法</a:t>
                      </a:r>
                    </a:p>
                  </a:txBody>
                  <a:tcPr marT="25400" marB="25400" marL="101600" marR="762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路徑</a:t>
                      </a:r>
                    </a:p>
                  </a:txBody>
                  <a:tcPr marT="25400" marB="25400" marL="101600" marR="762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說明</a:t>
                      </a:r>
                    </a:p>
                  </a:txBody>
                  <a:tcPr marT="25400" marB="25400" marL="101600" marR="76200" anchor="ctr">
                    <a:solidFill>
                      <a:srgbClr val="2563EB"/>
                    </a:solidFill>
                  </a:tcPr>
                </a:tc>
              </a:tr>
              <a:tr h="41563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563EB"/>
                          </a:solidFill>
                          <a:latin typeface="PingFang TC"/>
                          <a:ea typeface="PingFang TC"/>
                        </a:rPr>
                        <a:t>GET</a:t>
                      </a:r>
                    </a:p>
                  </a:txBody>
                  <a:tcPr marT="25400" marB="25400" marL="1016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/api/v1/price/{product_id}?period=&amp;granularity=</a:t>
                      </a:r>
                    </a:p>
                  </a:txBody>
                  <a:tcPr marT="25400" marB="25400" marL="1016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PDF API 1：價格歷史 → {granularity, source: aggregation|raw_fallback, points[], rows_scanned, latency_ms, current_price}</a:t>
                      </a:r>
                    </a:p>
                  </a:txBody>
                  <a:tcPr marT="25400" marB="25400" marL="101600" marR="76200" anchor="ctr">
                    <a:solidFill>
                      <a:srgbClr val="FFFFFF"/>
                    </a:solidFill>
                  </a:tcPr>
                </a:tc>
              </a:tr>
              <a:tr h="41563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563EB"/>
                          </a:solidFill>
                          <a:latin typeface="PingFang TC"/>
                          <a:ea typeface="PingFang TC"/>
                        </a:rPr>
                        <a:t>POST</a:t>
                      </a:r>
                    </a:p>
                  </a:txBody>
                  <a:tcPr marT="25400" marB="25400" marL="101600" marR="762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/api/v1/subscriptions</a:t>
                      </a:r>
                    </a:p>
                  </a:txBody>
                  <a:tcPr marT="25400" marB="25400" marL="101600" marR="762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PDF API 2：{user_id, product_id, price_threshold, notification_type: sse|email, email?}（upsert）</a:t>
                      </a:r>
                    </a:p>
                  </a:txBody>
                  <a:tcPr marT="25400" marB="25400" marL="101600" marR="76200" anchor="ctr">
                    <a:solidFill>
                      <a:srgbClr val="F1F5F9"/>
                    </a:solidFill>
                  </a:tcPr>
                </a:tc>
              </a:tr>
              <a:tr h="41563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563EB"/>
                          </a:solidFill>
                          <a:latin typeface="PingFang TC"/>
                          <a:ea typeface="PingFang TC"/>
                        </a:rPr>
                        <a:t>POST</a:t>
                      </a:r>
                    </a:p>
                  </a:txBody>
                  <a:tcPr marT="25400" marB="25400" marL="1016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/api/v1/price-reports</a:t>
                      </a:r>
                    </a:p>
                  </a:txBody>
                  <a:tcPr marT="25400" marB="25400" marL="1016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extension 回報 {product_id, price, reporter_token} → accepted / pending_verify；429 超過限流</a:t>
                      </a:r>
                    </a:p>
                  </a:txBody>
                  <a:tcPr marT="25400" marB="25400" marL="101600" marR="76200" anchor="ctr">
                    <a:solidFill>
                      <a:srgbClr val="FFFFFF"/>
                    </a:solidFill>
                  </a:tcPr>
                </a:tc>
              </a:tr>
              <a:tr h="41563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563EB"/>
                          </a:solidFill>
                          <a:latin typeface="PingFang TC"/>
                          <a:ea typeface="PingFang TC"/>
                        </a:rPr>
                        <a:t>GET</a:t>
                      </a:r>
                    </a:p>
                  </a:txBody>
                  <a:tcPr marT="25400" marB="25400" marL="101600" marR="762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/api/v1/price-reports?product_id=</a:t>
                      </a:r>
                    </a:p>
                  </a:txBody>
                  <a:tcPr marT="25400" marB="25400" marL="101600" marR="762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回報狀態機（pending_verify → confirmed / rejected）</a:t>
                      </a:r>
                    </a:p>
                  </a:txBody>
                  <a:tcPr marT="25400" marB="25400" marL="101600" marR="76200" anchor="ctr">
                    <a:solidFill>
                      <a:srgbClr val="F1F5F9"/>
                    </a:solidFill>
                  </a:tcPr>
                </a:tc>
              </a:tr>
              <a:tr h="41563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563EB"/>
                          </a:solidFill>
                          <a:latin typeface="PingFang TC"/>
                          <a:ea typeface="PingFang TC"/>
                        </a:rPr>
                        <a:t>POST</a:t>
                      </a:r>
                    </a:p>
                  </a:txBody>
                  <a:tcPr marT="25400" marB="25400" marL="1016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/api/v1/products/track</a:t>
                      </a:r>
                    </a:p>
                  </a:txBody>
                  <a:tcPr marT="25400" marB="25400" marL="1016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{product_id}（ASIN 或 URL）→ 註冊 + 最高優先爬取</a:t>
                      </a:r>
                    </a:p>
                  </a:txBody>
                  <a:tcPr marT="25400" marB="25400" marL="101600" marR="76200" anchor="ctr">
                    <a:solidFill>
                      <a:srgbClr val="FFFFFF"/>
                    </a:solidFill>
                  </a:tcPr>
                </a:tc>
              </a:tr>
              <a:tr h="41563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563EB"/>
                          </a:solidFill>
                          <a:latin typeface="PingFang TC"/>
                          <a:ea typeface="PingFang TC"/>
                        </a:rPr>
                        <a:t>GET / POST</a:t>
                      </a:r>
                    </a:p>
                  </a:txBody>
                  <a:tcPr marT="25400" marB="25400" marL="101600" marR="762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/api/v1/products · /products/{asin}/crawl?sync=</a:t>
                      </a:r>
                    </a:p>
                  </a:txBody>
                  <a:tcPr marT="25400" marB="25400" marL="101600" marR="762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商品 + 優先分數 / 間隔 / 到期 / fetcher / 狀態；立即爬取</a:t>
                      </a:r>
                    </a:p>
                  </a:txBody>
                  <a:tcPr marT="25400" marB="25400" marL="101600" marR="76200" anchor="ctr">
                    <a:solidFill>
                      <a:srgbClr val="F1F5F9"/>
                    </a:solidFill>
                  </a:tcPr>
                </a:tc>
              </a:tr>
              <a:tr h="41563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563EB"/>
                          </a:solidFill>
                          <a:latin typeface="PingFang TC"/>
                          <a:ea typeface="PingFang TC"/>
                        </a:rPr>
                        <a:t>POST / GET</a:t>
                      </a:r>
                    </a:p>
                  </a:txBody>
                  <a:tcPr marT="25400" marB="25400" marL="1016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/api/v1/aggregations/run · /aggregations/stats</a:t>
                      </a:r>
                    </a:p>
                  </a:txBody>
                  <a:tcPr marT="25400" marB="25400" marL="1016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立即彙總；raw 列數 vs daily / weekly / monthly 列數</a:t>
                      </a:r>
                    </a:p>
                  </a:txBody>
                  <a:tcPr marT="25400" marB="25400" marL="101600" marR="76200" anchor="ctr">
                    <a:solidFill>
                      <a:srgbClr val="FFFFFF"/>
                    </a:solidFill>
                  </a:tcPr>
                </a:tc>
              </a:tr>
              <a:tr h="41563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563EB"/>
                          </a:solidFill>
                          <a:latin typeface="PingFang TC"/>
                          <a:ea typeface="PingFang TC"/>
                        </a:rPr>
                        <a:t>GET</a:t>
                      </a:r>
                    </a:p>
                  </a:txBody>
                  <a:tcPr marT="25400" marB="25400" marL="101600" marR="762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/api/v1/stream?user_id= · /notifications?user_id=</a:t>
                      </a:r>
                    </a:p>
                  </a:txBody>
                  <a:tcPr marT="25400" marB="25400" marL="101600" marR="762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SSE 即時通知（dev-only）；outbox 狀態機</a:t>
                      </a:r>
                    </a:p>
                  </a:txBody>
                  <a:tcPr marT="25400" marB="25400" marL="101600" marR="76200" anchor="ctr">
                    <a:solidFill>
                      <a:srgbClr val="F1F5F9"/>
                    </a:solidFill>
                  </a:tcPr>
                </a:tc>
              </a:tr>
              <a:tr h="41563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563EB"/>
                          </a:solidFill>
                          <a:latin typeface="PingFang TC"/>
                          <a:ea typeface="PingFang TC"/>
                        </a:rPr>
                        <a:t>GET</a:t>
                      </a:r>
                    </a:p>
                  </a:txBody>
                  <a:tcPr marT="25400" marB="25400" marL="1016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/api/v1/cdc/status · /crawl/log</a:t>
                      </a:r>
                    </a:p>
                  </a:txBody>
                  <a:tcPr marT="25400" marB="25400" marL="1016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CDC checkpoint / head / lag / queue 深度；爬取紀錄</a:t>
                      </a:r>
                    </a:p>
                  </a:txBody>
                  <a:tcPr marT="25400" marB="25400" marL="101600" marR="76200" anchor="ctr">
                    <a:solidFill>
                      <a:srgbClr val="FFFFFF"/>
                    </a:solidFill>
                  </a:tcPr>
                </a:tc>
              </a:tr>
              <a:tr h="41564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563EB"/>
                          </a:solidFill>
                          <a:latin typeface="PingFang TC"/>
                          <a:ea typeface="PingFang TC"/>
                        </a:rPr>
                        <a:t>POST</a:t>
                      </a:r>
                    </a:p>
                  </a:txBody>
                  <a:tcPr marT="25400" marB="25400" marL="101600" marR="762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/api/v1/debug/seed · /debug/mock-price</a:t>
                      </a:r>
                    </a:p>
                  </a:txBody>
                  <a:tcPr marT="25400" marB="25400" marL="101600" marR="762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只在 MOCK_AMAZON=1（或 ALLOW_SEED=1）開放</a:t>
                      </a:r>
                    </a:p>
                  </a:txBody>
                  <a:tcPr marT="25400" marB="25400" marL="101600" marR="76200" anchor="ctr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6172200"/>
            <a:ext cx="11064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64748B"/>
                </a:solidFill>
                <a:latin typeface="PingFang TC"/>
                <a:ea typeface="PingFang TC"/>
              </a:rPr>
              <a:t>身分：正式版 Cognito JWT（env-gated）；原型 user_id 由前端產生（一個分頁 = 一個使用者）。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03 · DATA MODEL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資料模型（8 張表，時間一律 UTC）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463040"/>
          <a:ext cx="11109959" cy="4846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5212080"/>
                <a:gridCol w="3977639"/>
              </a:tblGrid>
              <a:tr h="53848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表</a:t>
                      </a:r>
                    </a:p>
                  </a:txBody>
                  <a:tcPr marT="25400" marB="25400" marL="101600" marR="762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重點欄位</a:t>
                      </a:r>
                    </a:p>
                  </a:txBody>
                  <a:tcPr marT="25400" marB="25400" marL="101600" marR="762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索引 / 備註</a:t>
                      </a:r>
                    </a:p>
                  </a:txBody>
                  <a:tcPr marT="25400" marB="25400" marL="101600" marR="76200" anchor="ctr">
                    <a:solidFill>
                      <a:srgbClr val="2563EB"/>
                    </a:solidFill>
                  </a:tcPr>
                </a:tc>
              </a:tr>
              <a:tr h="53848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2563EB"/>
                          </a:solidFill>
                          <a:latin typeface="PingFang TC"/>
                          <a:ea typeface="PingFang TC"/>
                        </a:rPr>
                        <a:t>products</a:t>
                      </a:r>
                    </a:p>
                  </a:txBody>
                  <a:tcPr marT="25400" marB="25400" marL="1016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asin(PK) · title · currency · status(active|unavailable|region_locked|not_found|blocked) · last_price/_at/_source · last_seen_at · last_fetcher · subscription_count · view_count · suspicious_flag</a:t>
                      </a:r>
                    </a:p>
                  </a:txBody>
                  <a:tcPr marT="25400" marB="25400" marL="1016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last_event_price / last_event_seq 只由 notify worker 更新（消費端與寫入端分離才能算 Δ）</a:t>
                      </a:r>
                    </a:p>
                  </a:txBody>
                  <a:tcPr marT="25400" marB="25400" marL="101600" marR="76200" anchor="ctr">
                    <a:solidFill>
                      <a:srgbClr val="FFFFFF"/>
                    </a:solidFill>
                  </a:tcPr>
                </a:tc>
              </a:tr>
              <a:tr h="53848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2563EB"/>
                          </a:solidFill>
                          <a:latin typeface="PingFang TC"/>
                          <a:ea typeface="PingFang TC"/>
                        </a:rPr>
                        <a:t>prices（append-only）</a:t>
                      </a:r>
                    </a:p>
                  </a:txBody>
                  <a:tcPr marT="25400" marB="25400" marL="101600" marR="762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seq（自增，模擬 WAL 位置）· product_id · price · currency · source(crawler|extension|mock|seed) · fetcher · ts</a:t>
                      </a:r>
                    </a:p>
                  </a:txBody>
                  <a:tcPr marT="25400" marB="25400" marL="101600" marR="762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INDEX(product_id, ts)；正式版 DynamoDB：hash product_id、range ts、Streams NEW_IMAGE</a:t>
                      </a:r>
                    </a:p>
                  </a:txBody>
                  <a:tcPr marT="25400" marB="25400" marL="101600" marR="76200" anchor="ctr">
                    <a:solidFill>
                      <a:srgbClr val="F1F5F9"/>
                    </a:solidFill>
                  </a:tcPr>
                </a:tc>
              </a:tr>
              <a:tr h="53848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2563EB"/>
                          </a:solidFill>
                          <a:latin typeface="PingFang TC"/>
                          <a:ea typeface="PingFang TC"/>
                        </a:rPr>
                        <a:t>subscriptions</a:t>
                      </a:r>
                    </a:p>
                  </a:txBody>
                  <a:tcPr marT="25400" marB="25400" marL="1016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subscription_id(PK) · user_id · product_id · price_threshold · notification_type · email · status · last_notified_price（cooldown）</a:t>
                      </a:r>
                    </a:p>
                  </a:txBody>
                  <a:tcPr marT="25400" marB="25400" marL="1016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UNIQUE(product_id, user_id)（PDF PK）+ INDEX(product_id, price_threshold, user_id)（PDF secondary，covering）</a:t>
                      </a:r>
                    </a:p>
                  </a:txBody>
                  <a:tcPr marT="25400" marB="25400" marL="101600" marR="76200" anchor="ctr">
                    <a:solidFill>
                      <a:srgbClr val="FFFFFF"/>
                    </a:solidFill>
                  </a:tcPr>
                </a:tc>
              </a:tr>
              <a:tr h="53848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2563EB"/>
                          </a:solidFill>
                          <a:latin typeface="PingFang TC"/>
                          <a:ea typeface="PingFang TC"/>
                        </a:rPr>
                        <a:t>price_reports</a:t>
                      </a:r>
                    </a:p>
                  </a:txBody>
                  <a:tcPr marT="25400" marB="25400" marL="101600" marR="762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report_id · product_id · reported_price · reporter_token（匿名）· baseline_price · deviation_pct · verify_price</a:t>
                      </a:r>
                    </a:p>
                  </a:txBody>
                  <a:tcPr marT="25400" marB="25400" marL="101600" marR="762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status: accepted | pending_verify | confirmed | rejected</a:t>
                      </a:r>
                    </a:p>
                  </a:txBody>
                  <a:tcPr marT="25400" marB="25400" marL="101600" marR="76200" anchor="ctr">
                    <a:solidFill>
                      <a:srgbClr val="F1F5F9"/>
                    </a:solidFill>
                  </a:tcPr>
                </a:tc>
              </a:tr>
              <a:tr h="53848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2563EB"/>
                          </a:solidFill>
                          <a:latin typeface="PingFang TC"/>
                          <a:ea typeface="PingFang TC"/>
                        </a:rPr>
                        <a:t>price_aggregations</a:t>
                      </a:r>
                    </a:p>
                  </a:txBody>
                  <a:tcPr marT="25400" marB="25400" marL="1016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avg / min / max / close_price · sample_count</a:t>
                      </a:r>
                    </a:p>
                  </a:txBody>
                  <a:tcPr marT="25400" marB="25400" marL="1016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PK(product_id, granularity, bucket_start)；Postgres，讀路徑只碰這張</a:t>
                      </a:r>
                    </a:p>
                  </a:txBody>
                  <a:tcPr marT="25400" marB="25400" marL="101600" marR="76200" anchor="ctr">
                    <a:solidFill>
                      <a:srgbClr val="FFFFFF"/>
                    </a:solidFill>
                  </a:tcPr>
                </a:tc>
              </a:tr>
              <a:tr h="53848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2563EB"/>
                          </a:solidFill>
                          <a:latin typeface="PingFang TC"/>
                          <a:ea typeface="PingFang TC"/>
                        </a:rPr>
                        <a:t>notification_outbox</a:t>
                      </a:r>
                    </a:p>
                  </a:txBody>
                  <a:tcPr marT="25400" marB="25400" marL="101600" marR="762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event_seq · old_price · new_price · threshold · channel</a:t>
                      </a:r>
                    </a:p>
                  </a:txBody>
                  <a:tcPr marT="25400" marB="25400" marL="101600" marR="762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notification_id = sha256(subscription_id|event_seq)[:32]；status: ENQUEUED|ATTEMPTED|VENDOR_ACCEPTED|FAILED|SKIPPED_COOLDOWN</a:t>
                      </a:r>
                    </a:p>
                  </a:txBody>
                  <a:tcPr marT="25400" marB="25400" marL="101600" marR="76200" anchor="ctr">
                    <a:solidFill>
                      <a:srgbClr val="F1F5F9"/>
                    </a:solidFill>
                  </a:tcPr>
                </a:tc>
              </a:tr>
              <a:tr h="53848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2563EB"/>
                          </a:solidFill>
                          <a:latin typeface="PingFang TC"/>
                          <a:ea typeface="PingFang TC"/>
                        </a:rPr>
                        <a:t>cdc_checkpoint</a:t>
                      </a:r>
                    </a:p>
                  </a:txBody>
                  <a:tcPr marT="25400" marB="25400" marL="1016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consumer(prices_seq / ddb:{shard_id}) · position</a:t>
                      </a:r>
                    </a:p>
                  </a:txBody>
                  <a:tcPr marT="25400" marB="25400" marL="1016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at-least-once：發完事件才存 checkpoint</a:t>
                      </a:r>
                    </a:p>
                  </a:txBody>
                  <a:tcPr marT="25400" marB="25400" marL="101600" marR="76200" anchor="ctr">
                    <a:solidFill>
                      <a:srgbClr val="FFFFFF"/>
                    </a:solidFill>
                  </a:tcPr>
                </a:tc>
              </a:tr>
              <a:tr h="53848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2563EB"/>
                          </a:solidFill>
                          <a:latin typeface="PingFang TC"/>
                          <a:ea typeface="PingFang TC"/>
                        </a:rPr>
                        <a:t>crawl_log</a:t>
                      </a:r>
                    </a:p>
                  </a:txBody>
                  <a:tcPr marT="25400" marB="25400" marL="101600" marR="762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asin · fetcher · status · elapsed_ms · ts</a:t>
                      </a:r>
                    </a:p>
                  </a:txBody>
                  <a:tcPr marT="25400" marB="25400" marL="101600" marR="762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demo 面板用；cleanup cron 清</a:t>
                      </a:r>
                    </a:p>
                  </a:txBody>
                  <a:tcPr marT="25400" marB="25400" marL="101600" marR="76200" anchor="ctr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04 · HIGH-LEVEL ARCHITECTURE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整體架構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508760"/>
            <a:ext cx="1554480" cy="731520"/>
          </a:xfrm>
          <a:prstGeom prst="roundRect">
            <a:avLst/>
          </a:prstGeom>
          <a:solidFill>
            <a:srgbClr val="64748B"/>
          </a:solidFill>
          <a:ln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PingFang TC"/>
                <a:ea typeface="PingFang TC"/>
              </a:rPr>
              <a:t>Client / extension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網站 · Chrome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0" y="1508760"/>
            <a:ext cx="1371600" cy="731520"/>
          </a:xfrm>
          <a:prstGeom prst="roundRect">
            <a:avLst/>
          </a:prstGeom>
          <a:solidFill>
            <a:srgbClr val="0EA5E9"/>
          </a:solidFill>
          <a:ln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PingFang TC"/>
                <a:ea typeface="PingFang TC"/>
              </a:rPr>
              <a:t>API Gateway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JWT · 節流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931920" y="1508760"/>
            <a:ext cx="2011680" cy="73152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PingFang TC"/>
                <a:ea typeface="PingFang TC"/>
              </a:rPr>
              <a:t>API (FastAPI)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/price · /subscriptions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/price-reports · /products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1508760"/>
            <a:ext cx="2103120" cy="73152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PingFang TC"/>
                <a:ea typeface="PingFang TC"/>
              </a:rPr>
              <a:t>PostgreSQL (RDS)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products · subscriptions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aggregations · outbox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961120" y="1508760"/>
            <a:ext cx="2743200" cy="73152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PingFang TC"/>
                <a:ea typeface="PingFang TC"/>
              </a:rPr>
              <a:t>prices：DynamoDB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(PK product_id, SK ts) append-only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+ DynamoDB Streams (CDC)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011680" y="1874520"/>
            <a:ext cx="27432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3657600" y="1874520"/>
            <a:ext cx="27432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5943600" y="1874520"/>
            <a:ext cx="45720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5943600" y="2057400"/>
            <a:ext cx="3017520" cy="0"/>
          </a:xfrm>
          <a:prstGeom prst="line">
            <a:avLst/>
          </a:prstGeom>
          <a:ln w="15240">
            <a:solidFill>
              <a:srgbClr val="0596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457200" y="2788920"/>
            <a:ext cx="1554480" cy="731520"/>
          </a:xfrm>
          <a:prstGeom prst="roundRect">
            <a:avLst/>
          </a:prstGeom>
          <a:solidFill>
            <a:srgbClr val="D97706"/>
          </a:solidFill>
          <a:ln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PingFang TC"/>
                <a:ea typeface="PingFang TC"/>
              </a:rPr>
              <a:t>Scheduler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優先分數 · due 排序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286000" y="2788920"/>
            <a:ext cx="1371600" cy="731520"/>
          </a:xfrm>
          <a:prstGeom prst="roundRect">
            <a:avLst/>
          </a:prstGeom>
          <a:solidFill>
            <a:srgbClr val="DC2626"/>
          </a:solidFill>
          <a:ln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PingFang TC"/>
                <a:ea typeface="PingFang TC"/>
              </a:rPr>
              <a:t>crawl queue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(Redis Streams)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931920" y="2788920"/>
            <a:ext cx="2011680" cy="731520"/>
          </a:xfrm>
          <a:prstGeom prst="roundRect">
            <a:avLst/>
          </a:prstGeom>
          <a:solidFill>
            <a:srgbClr val="D97706"/>
          </a:solidFill>
          <a:ln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PingFang TC"/>
                <a:ea typeface="PingFang TC"/>
              </a:rPr>
              <a:t>Crawl worker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curl_cffi → Playwright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token bucket 1 rps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0" y="2788920"/>
            <a:ext cx="2103120" cy="731520"/>
          </a:xfrm>
          <a:prstGeom prst="roundRect">
            <a:avLst/>
          </a:prstGeom>
          <a:solidFill>
            <a:srgbClr val="0F172A"/>
          </a:solidFill>
          <a:ln>
            <a:solidFill>
              <a:srgbClr val="0F17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PingFang TC"/>
                <a:ea typeface="PingFang TC"/>
              </a:rPr>
              <a:t>amazon.com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(美國出口 IP / proxy pool)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2011680" y="3154680"/>
            <a:ext cx="27432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3657600" y="3154680"/>
            <a:ext cx="27432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5943600" y="3154680"/>
            <a:ext cx="45720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4937760" y="2240280"/>
            <a:ext cx="0" cy="548640"/>
          </a:xfrm>
          <a:prstGeom prst="line">
            <a:avLst/>
          </a:prstGeom>
          <a:ln w="15240">
            <a:solidFill>
              <a:srgbClr val="0596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5029200" y="2286000"/>
            <a:ext cx="1463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059669"/>
                </a:solidFill>
                <a:latin typeface="PingFang TC"/>
                <a:ea typeface="PingFang TC"/>
              </a:rPr>
              <a:t>append price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1234440" y="2240280"/>
            <a:ext cx="0" cy="548640"/>
          </a:xfrm>
          <a:prstGeom prst="line">
            <a:avLst/>
          </a:prstGeom>
          <a:ln w="12700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1280160" y="2286000"/>
            <a:ext cx="1280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64748B"/>
                </a:solidFill>
                <a:latin typeface="PingFang TC"/>
                <a:ea typeface="PingFang TC"/>
              </a:rPr>
              <a:t>可疑 → urgent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961120" y="4069080"/>
            <a:ext cx="2743200" cy="731520"/>
          </a:xfrm>
          <a:prstGeom prst="roundRect">
            <a:avLst/>
          </a:prstGeom>
          <a:solidFill>
            <a:srgbClr val="7C3AED"/>
          </a:solidFill>
          <a:ln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PingFang TC"/>
                <a:ea typeface="PingFang TC"/>
              </a:rPr>
              <a:t>CDC tailer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per-shard checkpoint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0" y="4069080"/>
            <a:ext cx="2103120" cy="731520"/>
          </a:xfrm>
          <a:prstGeom prst="roundRect">
            <a:avLst/>
          </a:prstGeom>
          <a:solidFill>
            <a:srgbClr val="DC2626"/>
          </a:solidFill>
          <a:ln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PingFang TC"/>
                <a:ea typeface="PingFang TC"/>
              </a:rPr>
              <a:t>price_changed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(Redis Streams)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931920" y="4069080"/>
            <a:ext cx="2011680" cy="731520"/>
          </a:xfrm>
          <a:prstGeom prst="roundRect">
            <a:avLst/>
          </a:prstGeom>
          <a:solidFill>
            <a:srgbClr val="7C3AED"/>
          </a:solidFill>
          <a:ln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PingFang TC"/>
                <a:ea typeface="PingFang TC"/>
              </a:rPr>
              <a:t>price-change worker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join 訂閱 · 過濾 · outbox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286000" y="4069080"/>
            <a:ext cx="1371600" cy="731520"/>
          </a:xfrm>
          <a:prstGeom prst="roundRect">
            <a:avLst/>
          </a:prstGeom>
          <a:solidFill>
            <a:srgbClr val="DC2626"/>
          </a:solidFill>
          <a:ln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PingFang TC"/>
                <a:ea typeface="PingFang TC"/>
              </a:rPr>
              <a:t>notify:*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(sse / email)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4069080"/>
            <a:ext cx="1554480" cy="73152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PingFang TC"/>
                <a:ea typeface="PingFang TC"/>
              </a:rPr>
              <a:t>Sender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SES email / SSE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10332720" y="2240280"/>
            <a:ext cx="0" cy="1828800"/>
          </a:xfrm>
          <a:prstGeom prst="line">
            <a:avLst/>
          </a:prstGeom>
          <a:ln w="22225">
            <a:solidFill>
              <a:srgbClr val="7C3AE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 flipH="1">
            <a:off x="8503920" y="4434840"/>
            <a:ext cx="45720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H="1">
            <a:off x="5943600" y="4434840"/>
            <a:ext cx="45720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 flipH="1">
            <a:off x="3657600" y="4434840"/>
            <a:ext cx="27432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 flipH="1">
            <a:off x="2011680" y="4434840"/>
            <a:ext cx="27432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8961120" y="5257800"/>
            <a:ext cx="2743200" cy="640080"/>
          </a:xfrm>
          <a:prstGeom prst="roundRect">
            <a:avLst/>
          </a:prstGeom>
          <a:solidFill>
            <a:srgbClr val="D97706"/>
          </a:solidFill>
          <a:ln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PingFang TC"/>
                <a:ea typeface="PingFang TC"/>
              </a:rPr>
              <a:t>Aggregator job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每 5 分鐘增量 / 夜間 EventBridge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400800" y="5257800"/>
            <a:ext cx="2103120" cy="64008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PingFang TC"/>
                <a:ea typeface="PingFang TC"/>
              </a:rPr>
              <a:t>price_aggregations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daily / weekly / monthly</a:t>
            </a:r>
          </a:p>
        </p:txBody>
      </p:sp>
      <p:cxnSp>
        <p:nvCxnSpPr>
          <p:cNvPr id="36" name="Connector 35"/>
          <p:cNvCxnSpPr/>
          <p:nvPr/>
        </p:nvCxnSpPr>
        <p:spPr>
          <a:xfrm flipH="1">
            <a:off x="8503920" y="5577840"/>
            <a:ext cx="45720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10332720" y="4800600"/>
            <a:ext cx="0" cy="457200"/>
          </a:xfrm>
          <a:prstGeom prst="line">
            <a:avLst/>
          </a:prstGeom>
          <a:ln w="12700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457200" y="5257800"/>
            <a:ext cx="566928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0F172A"/>
                </a:solidFill>
                <a:latin typeface="PingFang TC"/>
                <a:ea typeface="PingFang TC"/>
              </a:rPr>
              <a:t>三條路徑：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64748B"/>
                </a:solidFill>
                <a:latin typeface="PingFang TC"/>
                <a:ea typeface="PingFang TC"/>
              </a:rPr>
              <a:t>① 資料從哪來 — extension 眾包 + 優先式 crawler，寫入端只 append prices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64748B"/>
                </a:solidFill>
                <a:latin typeface="PingFang TC"/>
                <a:ea typeface="PingFang TC"/>
              </a:rPr>
              <a:t>② 變動怎麼變通知 — CDC tail Streams → worker join 訂閱 → outbox → sender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64748B"/>
                </a:solidFill>
                <a:latin typeface="PingFang TC"/>
                <a:ea typeface="PingFang TC"/>
              </a:rPr>
              <a:t>③ 歷史怎麼快速讀 — aggregator 預彙總，/price 讀 30 列而非 17,520 列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決策地圖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三大關鍵架構決策（環環相扣）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600200"/>
            <a:ext cx="3566160" cy="54864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>
                <a:solidFill>
                  <a:srgbClr val="FFFFFF"/>
                </a:solidFill>
                <a:latin typeface="PingFang TC"/>
                <a:ea typeface="PingFang TC"/>
              </a:rPr>
              <a:t>① 如何追蹤 5 億商品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2221992"/>
            <a:ext cx="3566160" cy="68580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extension 眾包 + 優先式爬取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+ 完整性驗證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2990088"/>
            <a:ext cx="3566160" cy="283464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3136392"/>
            <a:ext cx="32004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 b="0">
                <a:solidFill>
                  <a:srgbClr val="0F172A"/>
                </a:solidFill>
                <a:latin typeface="PingFang TC"/>
                <a:ea typeface="PingFang TC"/>
              </a:rPr>
              <a:t>•  盲爬 1000 IP 掃一輪 5.8 天 → 太舊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0F172A"/>
                </a:solidFill>
                <a:latin typeface="PingFang TC"/>
                <a:ea typeface="PingFang TC"/>
              </a:rPr>
              <a:t>•  誰重要誰先爬：訂閱數 / 查看數當分數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0F172A"/>
                </a:solidFill>
                <a:latin typeface="PingFang TC"/>
                <a:ea typeface="PingFang TC"/>
              </a:rPr>
              <a:t>•  extension 回報使用者正在看的價格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0F172A"/>
                </a:solidFill>
                <a:latin typeface="PingFang TC"/>
                <a:ea typeface="PingFang TC"/>
              </a:rPr>
              <a:t>•  代價：使用者資料不能直接信 → 可疑不入庫、最高優先重爬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023360" y="1874520"/>
            <a:ext cx="27432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4297680" y="1600200"/>
            <a:ext cx="3566160" cy="54864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>
                <a:solidFill>
                  <a:srgbClr val="FFFFFF"/>
                </a:solidFill>
                <a:latin typeface="PingFang TC"/>
                <a:ea typeface="PingFang TC"/>
              </a:rPr>
              <a:t>② 如何 1 小時內通知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0" y="2221992"/>
            <a:ext cx="3566160" cy="68580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CDC → Redis Streams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→ price-change worker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0" y="2990088"/>
            <a:ext cx="3566160" cy="283464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80560" y="3136392"/>
            <a:ext cx="32004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 b="0">
                <a:solidFill>
                  <a:srgbClr val="0F172A"/>
                </a:solidFill>
                <a:latin typeface="PingFang TC"/>
                <a:ea typeface="PingFang TC"/>
              </a:rPr>
              <a:t>•  cron 每 2h 全表掃：延遲吃頻率、每次 full scan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0F172A"/>
                </a:solidFill>
                <a:latin typeface="PingFang TC"/>
                <a:ea typeface="PingFang TC"/>
              </a:rPr>
              <a:t>•  寫入端只 append；CDC tail 變更日誌變事件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0F172A"/>
                </a:solidFill>
                <a:latin typeface="PingFang TC"/>
                <a:ea typeface="PingFang TC"/>
              </a:rPr>
              <a:t>•  worker 用 (product_id, threshold, user_id) 索引 join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0F172A"/>
                </a:solidFill>
                <a:latin typeface="PingFang TC"/>
                <a:ea typeface="PingFang TC"/>
              </a:rPr>
              <a:t>•  代價：at-least-once → outbox 冪等 + cooldown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863840" y="1874520"/>
            <a:ext cx="27432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8138160" y="1600200"/>
            <a:ext cx="3566160" cy="548640"/>
          </a:xfrm>
          <a:prstGeom prst="roundRect">
            <a:avLst/>
          </a:prstGeom>
          <a:solidFill>
            <a:srgbClr val="DC2626"/>
          </a:solidFill>
          <a:ln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>
                <a:solidFill>
                  <a:srgbClr val="FFFFFF"/>
                </a:solidFill>
                <a:latin typeface="PingFang TC"/>
                <a:ea typeface="PingFang TC"/>
              </a:rPr>
              <a:t>③ 如何 &lt; 500ms 畫圖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38160" y="2221992"/>
            <a:ext cx="3566160" cy="68580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pre-aggregation 表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(daily / weekly / monthly)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38160" y="2990088"/>
            <a:ext cx="3566160" cy="283464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21040" y="3136392"/>
            <a:ext cx="32004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 b="0">
                <a:solidFill>
                  <a:srgbClr val="0F172A"/>
                </a:solidFill>
                <a:latin typeface="PingFang TC"/>
                <a:ea typeface="PingFang TC"/>
              </a:rPr>
              <a:t>•  每小時一筆 × 2 年 = 17,520 列，date_trunc+avg 撐不住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0F172A"/>
                </a:solidFill>
                <a:latin typeface="PingFang TC"/>
                <a:ea typeface="PingFang TC"/>
              </a:rPr>
              <a:t>•  背景 job 預先彙總，30 天圖讀 30 列、2 年讀 24 列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0F172A"/>
                </a:solidFill>
                <a:latin typeface="PingFang TC"/>
                <a:ea typeface="PingFang TC"/>
              </a:rPr>
              <a:t>•  代價：新鮮度落後一個週期；即時價另外給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0F172A"/>
                </a:solidFill>
                <a:latin typeface="PingFang TC"/>
                <a:ea typeface="PingFang TC"/>
              </a:rPr>
              <a:t>•  新商品 raw fallback 照樣能畫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5943600"/>
            <a:ext cx="11247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①決定「資料從哪來」、②決定「變動怎麼變成通知」、③決定「歷史怎麼快速讀」—— 下面逐項展開。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深入 1 · DISCOVERY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如何有效率地發現並追蹤 5 億商品？— 三階段演進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691640"/>
            <a:ext cx="3566160" cy="548640"/>
          </a:xfrm>
          <a:prstGeom prst="roundRect">
            <a:avLst/>
          </a:prstGeom>
          <a:solidFill>
            <a:srgbClr val="64748B"/>
          </a:solidFill>
          <a:ln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>
                <a:solidFill>
                  <a:srgbClr val="FFFFFF"/>
                </a:solidFill>
                <a:latin typeface="PingFang TC"/>
                <a:ea typeface="PingFang TC"/>
              </a:rPr>
              <a:t>(Naive) 盲爬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2313432"/>
            <a:ext cx="3566160" cy="54864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0">
                <a:solidFill>
                  <a:srgbClr val="0F172A"/>
                </a:solidFill>
                <a:latin typeface="PingFang TC"/>
                <a:ea typeface="PingFang TC"/>
              </a:rPr>
              <a:t>seed → BFS 抓連結 → 平行 → 去重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2935224"/>
            <a:ext cx="3566160" cy="237744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3063240"/>
            <a:ext cx="32004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50" b="0">
                <a:solidFill>
                  <a:srgbClr val="0F172A"/>
                </a:solidFill>
                <a:latin typeface="PingFang TC"/>
                <a:ea typeface="PingFang TC"/>
              </a:rPr>
              <a:t>•  Amazon 每 IP 限 1 req/s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F172A"/>
                </a:solidFill>
                <a:latin typeface="PingFang TC"/>
                <a:ea typeface="PingFang TC"/>
              </a:rPr>
              <a:t>•  1000 IP 也要 5.8 天掃一輪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F172A"/>
                </a:solidFill>
                <a:latin typeface="PingFang TC"/>
                <a:ea typeface="PingFang TC"/>
              </a:rPr>
              <a:t>•  資料太舊、絕大多數商品沒人在意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023360" y="1965960"/>
            <a:ext cx="27432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4297680" y="1691640"/>
            <a:ext cx="3566160" cy="548640"/>
          </a:xfrm>
          <a:prstGeom prst="roundRect">
            <a:avLst/>
          </a:prstGeom>
          <a:solidFill>
            <a:srgbClr val="0EA5E9"/>
          </a:solidFill>
          <a:ln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>
                <a:solidFill>
                  <a:srgbClr val="FFFFFF"/>
                </a:solidFill>
                <a:latin typeface="PingFang TC"/>
                <a:ea typeface="PingFang TC"/>
              </a:rPr>
              <a:t>(Better) 優先式爬取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0" y="2313432"/>
            <a:ext cx="3566160" cy="54864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0">
                <a:solidFill>
                  <a:srgbClr val="0F172A"/>
                </a:solidFill>
                <a:latin typeface="PingFang TC"/>
                <a:ea typeface="PingFang TC"/>
              </a:rPr>
              <a:t>誰重要誰先爬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0" y="2935224"/>
            <a:ext cx="3566160" cy="237744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80560" y="3063240"/>
            <a:ext cx="32004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50" b="0">
                <a:solidFill>
                  <a:srgbClr val="0F172A"/>
                </a:solidFill>
                <a:latin typeface="PingFang TC"/>
                <a:ea typeface="PingFang TC"/>
              </a:rPr>
              <a:t>•  訊號：訂閱數（有人在等）、查看數（有人在看）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F172A"/>
                </a:solidFill>
                <a:latin typeface="PingFang TC"/>
                <a:ea typeface="PingFang TC"/>
              </a:rPr>
              <a:t>•  流量集中在少數商品 → 效率大增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F172A"/>
                </a:solidFill>
                <a:latin typeface="PingFang TC"/>
                <a:ea typeface="PingFang TC"/>
              </a:rPr>
              <a:t>•  冷啟動：新熱門商品沒人搜過就沒分數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863840" y="1965960"/>
            <a:ext cx="27432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8138160" y="1691640"/>
            <a:ext cx="3566160" cy="54864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>
                <a:solidFill>
                  <a:srgbClr val="FFFFFF"/>
                </a:solidFill>
                <a:latin typeface="PingFang TC"/>
                <a:ea typeface="PingFang TC"/>
              </a:rPr>
              <a:t>(Best) extension 眾包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38160" y="2313432"/>
            <a:ext cx="3566160" cy="54864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0">
                <a:solidFill>
                  <a:srgbClr val="0F172A"/>
                </a:solidFill>
                <a:latin typeface="PingFang TC"/>
                <a:ea typeface="PingFang TC"/>
              </a:rPr>
              <a:t>使用者逛 Amazon，extension 回報 (asin, 價格)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38160" y="2935224"/>
            <a:ext cx="3566160" cy="237744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21040" y="3063240"/>
            <a:ext cx="32004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50" b="0">
                <a:solidFill>
                  <a:srgbClr val="0F172A"/>
                </a:solidFill>
                <a:latin typeface="PingFang TC"/>
                <a:ea typeface="PingFang TC"/>
              </a:rPr>
              <a:t>•  天然涵蓋「有人在意」的商品、即時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F172A"/>
                </a:solidFill>
                <a:latin typeface="PingFang TC"/>
                <a:ea typeface="PingFang TC"/>
              </a:rPr>
              <a:t>•  順便發現新商品；crawler 只補近期沒人看的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F172A"/>
                </a:solidFill>
                <a:latin typeface="PingFang TC"/>
                <a:ea typeface="PingFang TC"/>
              </a:rPr>
              <a:t>•  代價：上傳資料不能直接信 → 完整性驗證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5532120"/>
            <a:ext cx="11247120" cy="77724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把最大的限制（要監控上億商品）變成優勢：使用者的瀏覽行為就是最好的優先訊號。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crawler 結果永遠是真相，extension 只負責「告訴系統該看哪裡」。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深入 1 · SCHEDULER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優先分數、爬取間隔與 due-ness（app/scheduler.py）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508760"/>
            <a:ext cx="6675120" cy="210312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76200" tIns="101600"/>
          <a:lstStyle/>
          <a:p>
            <a:pPr algn="ctr">
              <a:spcAft>
                <a:spcPts val="100"/>
              </a:spcAft>
            </a:pPr>
            <a:r>
              <a:rPr sz="1200">
                <a:solidFill>
                  <a:srgbClr val="0F172A"/>
                </a:solidFill>
                <a:latin typeface="Menlo"/>
              </a:rPr>
              <a:t>score    = 10·subscription_count + 2·log1p(view_count)</a:t>
            </a:r>
          </a:p>
          <a:p>
            <a:pPr>
              <a:spcAft>
                <a:spcPts val="100"/>
              </a:spcAft>
            </a:pPr>
            <a:r>
              <a:rPr sz="1200">
                <a:solidFill>
                  <a:srgbClr val="0F172A"/>
                </a:solidFill>
                <a:latin typeface="Menlo"/>
              </a:rPr>
              <a:t>         + 100·suspicious_flag + priority_boost</a:t>
            </a:r>
          </a:p>
          <a:p>
            <a:pPr>
              <a:spcAft>
                <a:spcPts val="100"/>
              </a:spcAft>
            </a:pPr>
            <a:r>
              <a:rPr sz="1200">
                <a:solidFill>
                  <a:srgbClr val="0F172A"/>
                </a:solidFill>
                <a:latin typeface="Menlo"/>
              </a:rPr>
              <a:t>interval = clamp(3600 / (1 + score), 60s, 86400s)</a:t>
            </a:r>
          </a:p>
          <a:p>
            <a:pPr>
              <a:spcAft>
                <a:spcPts val="100"/>
              </a:spcAft>
            </a:pPr>
            <a:r>
              <a:rPr sz="1200">
                <a:solidFill>
                  <a:srgbClr val="64748B"/>
                </a:solidFill>
                <a:latin typeface="Menlo"/>
              </a:rPr>
              <a:t># 分數越高爬越勤；captcha 狀態 ×4 退避；not_found 拉到最大間隔</a:t>
            </a:r>
          </a:p>
          <a:p>
            <a:pPr>
              <a:spcAft>
                <a:spcPts val="100"/>
              </a:spcAft>
            </a:pPr>
            <a:r>
              <a:rPr sz="1200">
                <a:solidFill>
                  <a:srgbClr val="0F172A"/>
                </a:solidFill>
                <a:latin typeface="Menlo"/>
              </a:rPr>
              <a:t>due      = now - last_seen_at &gt;= interval</a:t>
            </a:r>
          </a:p>
          <a:p>
            <a:pPr>
              <a:spcAft>
                <a:spcPts val="100"/>
              </a:spcAft>
            </a:pPr>
            <a:r>
              <a:rPr sz="1200">
                <a:solidFill>
                  <a:srgbClr val="64748B"/>
                </a:solidFill>
                <a:latin typeface="Menlo"/>
              </a:rPr>
              <a:t># extension 回報也算「看過」→ crawler 可以晚點再來</a:t>
            </a:r>
          </a:p>
          <a:p>
            <a:pPr>
              <a:spcAft>
                <a:spcPts val="100"/>
              </a:spcAft>
            </a:pPr>
            <a:r>
              <a:rPr sz="1200">
                <a:solidFill>
                  <a:srgbClr val="0F172A"/>
                </a:solidFill>
                <a:latin typeface="Menlo"/>
              </a:rPr>
              <a:t>rank     = score × age / interval      # 每 tick 取 due 商品排序取前 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498079" y="1508760"/>
            <a:ext cx="4160520" cy="210312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0" y="1645920"/>
            <a:ext cx="384048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200" b="0">
                <a:solidFill>
                  <a:srgbClr val="0F172A"/>
                </a:solidFill>
                <a:latin typeface="PingFang TC"/>
                <a:ea typeface="PingFang TC"/>
              </a:rPr>
              <a:t>•  log1p(view_count)：查看數邊際遞減，避免被刷</a:t>
            </a:r>
          </a:p>
          <a:p>
            <a:pPr>
              <a:spcAft>
                <a:spcPts val="700"/>
              </a:spcAft>
            </a:pPr>
            <a:r>
              <a:rPr sz="1200" b="0">
                <a:solidFill>
                  <a:srgbClr val="0F172A"/>
                </a:solidFill>
                <a:latin typeface="PingFang TC"/>
                <a:ea typeface="PingFang TC"/>
              </a:rPr>
              <a:t>•  衰減：用 age / interval 排序，久沒爬的自然浮上來，冷門商品不餓死（上限 24h）</a:t>
            </a:r>
          </a:p>
          <a:p>
            <a:pPr>
              <a:spcAft>
                <a:spcPts val="700"/>
              </a:spcAft>
            </a:pPr>
            <a:r>
              <a:rPr sz="1200" b="0">
                <a:solidFill>
                  <a:srgbClr val="0F172A"/>
                </a:solidFill>
                <a:latin typeface="PingFang TC"/>
                <a:ea typeface="PingFang TC"/>
              </a:rPr>
              <a:t>•  訂閱 → +10 分；可疑回報 → +100 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794760"/>
            <a:ext cx="11155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0F172A"/>
                </a:solidFill>
                <a:latin typeface="PingFang TC"/>
                <a:ea typeface="PingFang TC"/>
              </a:rPr>
              <a:t>排程與插隊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4206240"/>
            <a:ext cx="2286000" cy="1005840"/>
          </a:xfrm>
          <a:prstGeom prst="roundRect">
            <a:avLst/>
          </a:prstGeom>
          <a:solidFill>
            <a:srgbClr val="D97706"/>
          </a:solidFill>
          <a:ln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scheduler tick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取 due 商品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依 rank 取前 N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834640" y="4709160"/>
            <a:ext cx="27432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3108960" y="4206240"/>
            <a:ext cx="2286000" cy="1005840"/>
          </a:xfrm>
          <a:prstGeom prst="roundRect">
            <a:avLst/>
          </a:prstGeom>
          <a:solidFill>
            <a:srgbClr val="DC2626"/>
          </a:solidFill>
          <a:ln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crawl queue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FIFO channel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(Redis Streams)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394960" y="4709160"/>
            <a:ext cx="27432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5669280" y="4206240"/>
            <a:ext cx="2286000" cy="100584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crawl worker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token bucket 1 rps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curl_cffi → Playwright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955280" y="4709160"/>
            <a:ext cx="27432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8229600" y="4206240"/>
            <a:ext cx="2286000" cy="100584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append prices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source=crawler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→ CDC → 通知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5394960"/>
            <a:ext cx="4846320" cy="731520"/>
          </a:xfrm>
          <a:prstGeom prst="roundRect">
            <a:avLst/>
          </a:prstGeom>
          <a:solidFill>
            <a:srgbClr val="DC2626"/>
          </a:solidFill>
          <a:ln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enqueue_urgent()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訂閱新商品 / 手動爬 / 可疑回報 → 直接入列 + 設 flag</a:t>
            </a:r>
          </a:p>
        </p:txBody>
      </p:sp>
      <p:cxnSp>
        <p:nvCxnSpPr>
          <p:cNvPr id="16" name="Connector 15"/>
          <p:cNvCxnSpPr/>
          <p:nvPr/>
        </p:nvCxnSpPr>
        <p:spPr>
          <a:xfrm flipV="1">
            <a:off x="5394960" y="5212080"/>
            <a:ext cx="548640" cy="548640"/>
          </a:xfrm>
          <a:prstGeom prst="line">
            <a:avLst/>
          </a:prstGeom>
          <a:ln w="15240">
            <a:solidFill>
              <a:srgbClr val="DC262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126480" y="5440680"/>
            <a:ext cx="55778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64748B"/>
                </a:solidFill>
                <a:latin typeface="PingFang TC"/>
                <a:ea typeface="PingFang TC"/>
              </a:rPr>
              <a:t>job 掉了下個 tick 會撿回（flag 還在）。正式版：Redis ZSET 當 priority queue、多 crawler consumer group、per-IP token bucket 集中 Redis、proxy pool 輪替（附錄 C）。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深入 1 · INTEGRITY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完整性驗證：使用者上傳的資料不能直接信（附錄 D）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600200"/>
            <a:ext cx="2194560" cy="822960"/>
          </a:xfrm>
          <a:prstGeom prst="roundRect">
            <a:avLst/>
          </a:prstGeom>
          <a:solidFill>
            <a:srgbClr val="64748B"/>
          </a:solidFill>
          <a:ln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PingFang TC"/>
                <a:ea typeface="PingFang TC"/>
              </a:rPr>
              <a:t>extension 回報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(asin, price, reporter_token)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017520" y="1600200"/>
            <a:ext cx="2743200" cy="82296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PingFang TC"/>
                <a:ea typeface="PingFang TC"/>
              </a:rPr>
              <a:t>baseline = products.last_price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deviation = (baseline − reported) / baseline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651760" y="2011680"/>
            <a:ext cx="36576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3017520" y="3063240"/>
            <a:ext cx="2743200" cy="82296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PingFang TC"/>
                <a:ea typeface="PingFang TC"/>
              </a:rPr>
              <a:t>跌幅 ≤ 30% → accepted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append(source=extension) → CDC → 通知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last_seen_at 更新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389120" y="2423160"/>
            <a:ext cx="0" cy="640080"/>
          </a:xfrm>
          <a:prstGeom prst="line">
            <a:avLst/>
          </a:prstGeom>
          <a:ln w="22225">
            <a:solidFill>
              <a:srgbClr val="0596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6309360" y="1600200"/>
            <a:ext cx="2743200" cy="822960"/>
          </a:xfrm>
          <a:prstGeom prst="roundRect">
            <a:avLst/>
          </a:prstGeom>
          <a:solidFill>
            <a:srgbClr val="D97706"/>
          </a:solidFill>
          <a:ln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PingFang TC"/>
                <a:ea typeface="PingFang TC"/>
              </a:rPr>
              <a:t>沒 baseline 或跌幅 &gt; 30%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→ pending_verify（不寫 prices 表）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760720" y="2011680"/>
            <a:ext cx="548640" cy="0"/>
          </a:xfrm>
          <a:prstGeom prst="line">
            <a:avLst/>
          </a:prstGeom>
          <a:ln w="22225">
            <a:solidFill>
              <a:srgbClr val="D9770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9418320" y="1600200"/>
            <a:ext cx="2286000" cy="822960"/>
          </a:xfrm>
          <a:prstGeom prst="roundRect">
            <a:avLst/>
          </a:prstGeom>
          <a:solidFill>
            <a:srgbClr val="DC2626"/>
          </a:solidFill>
          <a:ln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PingFang TC"/>
                <a:ea typeface="PingFang TC"/>
              </a:rPr>
              <a:t>suspicious_flag=1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enqueue_urgent 最高優先重爬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9052560" y="2011680"/>
            <a:ext cx="365760" cy="0"/>
          </a:xfrm>
          <a:prstGeom prst="line">
            <a:avLst/>
          </a:prstGeom>
          <a:ln w="22225">
            <a:solidFill>
              <a:srgbClr val="DC262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9418320" y="3063240"/>
            <a:ext cx="2286000" cy="822960"/>
          </a:xfrm>
          <a:prstGeom prst="roundRect">
            <a:avLst/>
          </a:prstGeom>
          <a:solidFill>
            <a:srgbClr val="D97706"/>
          </a:solidFill>
          <a:ln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PingFang TC"/>
                <a:ea typeface="PingFang TC"/>
              </a:rPr>
              <a:t>crawler 回來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|crawl − reported| / crawl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0561320" y="2423160"/>
            <a:ext cx="0" cy="640080"/>
          </a:xfrm>
          <a:prstGeom prst="line">
            <a:avLst/>
          </a:prstGeom>
          <a:ln w="22225">
            <a:solidFill>
              <a:srgbClr val="DC262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6309360" y="3063240"/>
            <a:ext cx="2743200" cy="82296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≤ 5% → confirmed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4069080"/>
            <a:ext cx="2743200" cy="822960"/>
          </a:xfrm>
          <a:prstGeom prst="roundRect">
            <a:avLst/>
          </a:prstGeom>
          <a:solidFill>
            <a:srgbClr val="DC2626"/>
          </a:solidFill>
          <a:ln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&gt; 5% → rejected</a:t>
            </a:r>
          </a:p>
        </p:txBody>
      </p:sp>
      <p:cxnSp>
        <p:nvCxnSpPr>
          <p:cNvPr id="17" name="Connector 16"/>
          <p:cNvCxnSpPr/>
          <p:nvPr/>
        </p:nvCxnSpPr>
        <p:spPr>
          <a:xfrm flipH="1">
            <a:off x="9052560" y="3383280"/>
            <a:ext cx="365760" cy="0"/>
          </a:xfrm>
          <a:prstGeom prst="line">
            <a:avLst/>
          </a:prstGeom>
          <a:ln w="22225">
            <a:solidFill>
              <a:srgbClr val="0596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H="1">
            <a:off x="9052560" y="3657600"/>
            <a:ext cx="365760" cy="731520"/>
          </a:xfrm>
          <a:prstGeom prst="line">
            <a:avLst/>
          </a:prstGeom>
          <a:ln w="22225">
            <a:solidFill>
              <a:srgbClr val="DC262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3017520" y="4069080"/>
            <a:ext cx="2743200" cy="82296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PingFang TC"/>
                <a:ea typeface="PingFang TC"/>
              </a:rPr>
              <a:t>入庫的永遠是 crawler 價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→ CDC → 通知</a:t>
            </a:r>
          </a:p>
        </p:txBody>
      </p:sp>
      <p:cxnSp>
        <p:nvCxnSpPr>
          <p:cNvPr id="20" name="Connector 19"/>
          <p:cNvCxnSpPr/>
          <p:nvPr/>
        </p:nvCxnSpPr>
        <p:spPr>
          <a:xfrm flipH="1">
            <a:off x="5760720" y="3566160"/>
            <a:ext cx="548640" cy="822960"/>
          </a:xfrm>
          <a:prstGeom prst="line">
            <a:avLst/>
          </a:prstGeom>
          <a:ln w="15240">
            <a:solidFill>
              <a:srgbClr val="0596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457200" y="5120640"/>
            <a:ext cx="11247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50" b="0">
                <a:solidFill>
                  <a:srgbClr val="0F172A"/>
                </a:solidFill>
                <a:latin typeface="PingFang TC"/>
                <a:ea typeface="PingFang TC"/>
              </a:rPr>
              <a:t>•  可疑回報不寫 prices 表 → 不會觸發通知；惡意回報只會讓系統多爬一次（reporter_token 每分鐘 30 次限流），不會造成假通知</a:t>
            </a:r>
          </a:p>
          <a:p>
            <a:pPr>
              <a:spcAft>
                <a:spcPts val="600"/>
              </a:spcAft>
            </a:pPr>
            <a:r>
              <a:rPr sz="1250" b="0">
                <a:solidFill>
                  <a:srgbClr val="0F172A"/>
                </a:solidFill>
                <a:latin typeface="PingFang TC"/>
                <a:ea typeface="PingFang TC"/>
              </a:rPr>
              <a:t>•  容忍度 5% 留給幣別換算 / 優惠券差異；匿名：不綁 user_id、不記瀏覽紀錄（附錄 I，隱私友善）</a:t>
            </a:r>
          </a:p>
          <a:p>
            <a:pPr>
              <a:spcAft>
                <a:spcPts val="600"/>
              </a:spcAft>
            </a:pPr>
            <a:r>
              <a:rPr sz="1250" b="0">
                <a:solidFill>
                  <a:srgbClr val="0F172A"/>
                </a:solidFill>
                <a:latin typeface="PingFang TC"/>
                <a:ea typeface="PingFang TC"/>
              </a:rPr>
              <a:t>•  demo 面板：「正常回報 −3%」直接入庫；「可疑回報 −60%」→ pending_verify → 重爬 → confirmed / rejected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深入 1 · 反爬實測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真抓 amazon.com：踩過的雷（附錄 E，2026-09）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17320"/>
            <a:ext cx="109728" cy="676656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58368" y="1417320"/>
            <a:ext cx="10972800" cy="676656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508760"/>
            <a:ext cx="10607040" cy="5394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0F172A"/>
                </a:solidFill>
                <a:latin typeface="PingFang TC"/>
                <a:ea typeface="PingFang TC"/>
              </a:rPr>
              <a:t>TLS 指紋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64748B"/>
                </a:solidFill>
                <a:latin typeface="PingFang TC"/>
                <a:ea typeface="PingFang TC"/>
              </a:rPr>
              <a:t>Amazon 在 TLS handshake 就比對 JA3/HTTP2 指紋，純 requests 直接被擋 → curl_cffi（curl-impersonate）讓指紋與真瀏覽器一致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130552"/>
            <a:ext cx="109728" cy="676656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58368" y="2130552"/>
            <a:ext cx="10972800" cy="676656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221992"/>
            <a:ext cx="10607040" cy="5394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0F172A"/>
                </a:solidFill>
                <a:latin typeface="PingFang TC"/>
                <a:ea typeface="PingFang TC"/>
              </a:rPr>
              <a:t>impersonate=chrome124 被攔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64748B"/>
                </a:solidFill>
                <a:latin typeface="PingFang TC"/>
                <a:ea typeface="PingFang TC"/>
              </a:rPr>
              <a:t>拿到「Click the button below to continue shopping」攔截頁（3.7KB、HTTP 200）；chrome120 / safari17_0 / edge101 拿到完整頁（1.2–2.7MB）→ 預設 chrome120，被擋就輪替指紋 + 新 cookie jar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2843784"/>
            <a:ext cx="109728" cy="676656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58368" y="2843784"/>
            <a:ext cx="10972800" cy="676656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935224"/>
            <a:ext cx="10607040" cy="5394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0F172A"/>
                </a:solidFill>
                <a:latin typeface="PingFang TC"/>
                <a:ea typeface="PingFang TC"/>
              </a:rPr>
              <a:t>幣別 cookie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64748B"/>
                </a:solidFill>
                <a:latin typeface="PingFang TC"/>
                <a:ea typeface="PingFang TC"/>
              </a:rPr>
              <a:t>i18n-prefs=USD 固定顯示幣別，否則依 IP 換算，且 .a-offscreen 格式不穩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3557016"/>
            <a:ext cx="109728" cy="676656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58368" y="3557016"/>
            <a:ext cx="10972800" cy="676656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648456"/>
            <a:ext cx="10607040" cy="5394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0F172A"/>
                </a:solidFill>
                <a:latin typeface="PingFang TC"/>
                <a:ea typeface="PingFang TC"/>
              </a:rPr>
              <a:t>主價格區塊解析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64748B"/>
                </a:solidFill>
                <a:latin typeface="PingFang TC"/>
                <a:ea typeface="PingFang TC"/>
              </a:rPr>
              <a:t>只從 #corePrice_feature_div / #apex_desktop … 的第一個 .a-price 組價（whole + fraction）；整頁第一個 .a-price 會抓到相關商品輪播；「Save 20% with Trade-In」會被當 $20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4270248"/>
            <a:ext cx="109728" cy="67665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58368" y="4270248"/>
            <a:ext cx="10972800" cy="676656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4361688"/>
            <a:ext cx="10607040" cy="5394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0F172A"/>
                </a:solidFill>
                <a:latin typeface="PingFang TC"/>
                <a:ea typeface="PingFang TC"/>
              </a:rPr>
              <a:t>region_locked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64748B"/>
                </a:solidFill>
                <a:latin typeface="PingFang TC"/>
                <a:ea typeface="PingFang TC"/>
              </a:rPr>
              <a:t>非美國 IP 看到「cannot be shipped to your selected delivery location」→ buybox 沒價格；改配送地要登入 → 判成 region_locked（非缺貨）；正式版要美國出口 IP / proxy pool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4983480"/>
            <a:ext cx="109728" cy="676656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58368" y="4983480"/>
            <a:ext cx="10972800" cy="676656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8680" y="5074920"/>
            <a:ext cx="10607040" cy="5394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0F172A"/>
                </a:solidFill>
                <a:latin typeface="PingFang TC"/>
                <a:ea typeface="PingFang TC"/>
              </a:rPr>
              <a:t>Playwright fallback 成本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64748B"/>
                </a:solidFill>
                <a:latin typeface="PingFang TC"/>
                <a:ea typeface="PingFang TC"/>
              </a:rPr>
              <a:t>能跑 JS、較能過 captcha，但映像 +400MB、每次吃 CPU/記憶體 → 只當 fallback（CRAWLER_PLAYWRIGHT=1）；限速 token bucket 1 rps + jitter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5696712"/>
            <a:ext cx="109728" cy="676656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58368" y="5696712"/>
            <a:ext cx="10972800" cy="676656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8680" y="5788152"/>
            <a:ext cx="10607040" cy="5394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0F172A"/>
                </a:solidFill>
                <a:latin typeface="PingFang TC"/>
                <a:ea typeface="PingFang TC"/>
              </a:rPr>
              <a:t>robots / ToS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64748B"/>
                </a:solidFill>
                <a:latin typeface="PingFang TC"/>
                <a:ea typeface="PingFang TC"/>
              </a:rPr>
              <a:t>robots.txt 對 /dp/ 無明確 disallow 但 ToS 禁自動化；本專案為教學 demo：1 rps、不登入、不繞 captcha；正式產品應評估 Product Advertising API / 合法資料供應商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深入 2 · NOTIFY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如何有效率地處理價格變動並通知訂閱者？— cron 全表掃 → event-driven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5394960" cy="548640"/>
          </a:xfrm>
          <a:prstGeom prst="roundRect">
            <a:avLst/>
          </a:prstGeom>
          <a:solidFill>
            <a:srgbClr val="DC2626"/>
          </a:solidFill>
          <a:ln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>
                <a:solidFill>
                  <a:srgbClr val="FFFFFF"/>
                </a:solidFill>
                <a:latin typeface="PingFang TC"/>
                <a:ea typeface="PingFang TC"/>
              </a:rPr>
              <a:t>現況：cron 每 2 小時掃 price 表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240280"/>
            <a:ext cx="5394960" cy="219456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377440"/>
            <a:ext cx="50292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延遲吃 cron 頻率：最壞 2 小時才發現 → 違反 1 小時 SLA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每次昂貴 full scan：5 億商品 × 每次都掃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縮短 cron 間隔只是把 full scan 跑得更頻繁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pull 批次 → 改成 push 單一事件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1600200"/>
            <a:ext cx="5394960" cy="54864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>
                <a:solidFill>
                  <a:srgbClr val="FFFFFF"/>
                </a:solidFill>
                <a:latin typeface="PingFang TC"/>
                <a:ea typeface="PingFang TC"/>
              </a:rPr>
              <a:t>方案：CDC → Redis Streams → worker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2240280"/>
            <a:ext cx="5394960" cy="219456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2377440"/>
            <a:ext cx="50292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寫入端只 append price 表，不必記得發事件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CDC tail 變更日誌，每筆新價格 → 一個事件（&lt; 1s）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worker 每事件只查該商品的訂閱（covering index）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at-least-once → outbox 冪等 + cooldown 兜底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943600" y="1874519"/>
            <a:ext cx="32004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48640" y="4709160"/>
            <a:ext cx="1691640" cy="109728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PingFang TC"/>
                <a:ea typeface="PingFang TC"/>
              </a:rPr>
              <a:t>append prices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crawler / extension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→ DynamoDB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240280" y="5257800"/>
            <a:ext cx="18288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2423160" y="4709160"/>
            <a:ext cx="1691640" cy="1097280"/>
          </a:xfrm>
          <a:prstGeom prst="roundRect">
            <a:avLst/>
          </a:prstGeom>
          <a:solidFill>
            <a:srgbClr val="7C3AED"/>
          </a:solidFill>
          <a:ln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PingFang TC"/>
                <a:ea typeface="PingFang TC"/>
              </a:rPr>
              <a:t>DynamoDB Streams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變更日誌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(原型：seq 輪詢)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4114800" y="5257800"/>
            <a:ext cx="18288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4297680" y="4709160"/>
            <a:ext cx="1691640" cy="1097280"/>
          </a:xfrm>
          <a:prstGeom prst="roundRect">
            <a:avLst/>
          </a:prstGeom>
          <a:solidFill>
            <a:srgbClr val="7C3AED"/>
          </a:solidFill>
          <a:ln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PingFang TC"/>
                <a:ea typeface="PingFang TC"/>
              </a:rPr>
              <a:t>CDC tailer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checkpoint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at-least-once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989320" y="5257800"/>
            <a:ext cx="18288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6172200" y="4709160"/>
            <a:ext cx="1691640" cy="1097280"/>
          </a:xfrm>
          <a:prstGeom prst="roundRect">
            <a:avLst/>
          </a:prstGeom>
          <a:solidFill>
            <a:srgbClr val="DC2626"/>
          </a:solidFill>
          <a:ln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PingFang TC"/>
                <a:ea typeface="PingFang TC"/>
              </a:rPr>
              <a:t>price_changed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Redis Streams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per-channel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863840" y="5257800"/>
            <a:ext cx="18288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8046720" y="4709160"/>
            <a:ext cx="1691640" cy="109728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PingFang TC"/>
                <a:ea typeface="PingFang TC"/>
              </a:rPr>
              <a:t>price-change worker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stream ⋈ subscriptions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過濾 · outbox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9738360" y="5257800"/>
            <a:ext cx="18288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9921240" y="4709160"/>
            <a:ext cx="1691640" cy="109728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PingFang TC"/>
                <a:ea typeface="PingFang TC"/>
              </a:rPr>
              <a:t>sender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SES email / SSE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VENDOR_ACCEPTED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5943600"/>
            <a:ext cx="11155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64748B"/>
                </a:solidFill>
                <a:latin typeface="PingFang TC"/>
                <a:ea typeface="PingFang TC"/>
              </a:rPr>
              <a:t>回填不是變動：/debug/seed 灌歷史後把 checkpoint 推過回填列，否則 17,520 筆假事件會炸通知。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深入 2 · CDC vs DUAL-WRITE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價格事件怎麼產生？CDC（log-based）vs dual-write（附錄 A）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54480"/>
          <a:ext cx="1110996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4572000"/>
                <a:gridCol w="4892040"/>
              </a:tblGrid>
              <a:tr h="54864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面向</a:t>
                      </a:r>
                    </a:p>
                  </a:txBody>
                  <a:tcPr marT="25400" marB="25400" marL="101600" marR="762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CDC（log-based，本專案）</a:t>
                      </a:r>
                    </a:p>
                  </a:txBody>
                  <a:tcPr marT="25400" marB="25400" marL="101600" marR="762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Dual-write</a:t>
                      </a:r>
                    </a:p>
                  </a:txBody>
                  <a:tcPr marT="25400" marB="25400" marL="101600" marR="76200" anchor="ctr">
                    <a:solidFill>
                      <a:srgbClr val="2563E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2563EB"/>
                          </a:solidFill>
                          <a:latin typeface="PingFang TC"/>
                          <a:ea typeface="PingFang TC"/>
                        </a:rPr>
                        <a:t>一致性</a:t>
                      </a:r>
                    </a:p>
                  </a:txBody>
                  <a:tcPr marT="25400" marB="25400" marL="1016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寫入端只寫 DB；事件從 log 衍生，不會漏</a:t>
                      </a:r>
                    </a:p>
                  </a:txBody>
                  <a:tcPr marT="25400" marB="25400" marL="1016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DB 成功、發事件失敗 → 漏通知；反過來 → 幽靈通知。需 transactional outbox 補救</a:t>
                      </a:r>
                    </a:p>
                  </a:txBody>
                  <a:tcPr marT="25400" marB="25400" marL="101600" marR="76200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2563EB"/>
                          </a:solidFill>
                          <a:latin typeface="PingFang TC"/>
                          <a:ea typeface="PingFang TC"/>
                        </a:rPr>
                        <a:t>順序</a:t>
                      </a:r>
                    </a:p>
                  </a:txBody>
                  <a:tcPr marT="25400" marB="25400" marL="101600" marR="762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log 順序 = commit 順序（DynamoDB Streams per-shard 有序）</a:t>
                      </a:r>
                    </a:p>
                  </a:txBody>
                  <a:tcPr marT="25400" marB="25400" marL="101600" marR="762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併發寫入時事件順序不保證</a:t>
                      </a:r>
                    </a:p>
                  </a:txBody>
                  <a:tcPr marT="25400" marB="25400" marL="101600" marR="76200" anchor="ctr">
                    <a:solidFill>
                      <a:srgbClr val="F1F5F9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2563EB"/>
                          </a:solidFill>
                          <a:latin typeface="PingFang TC"/>
                          <a:ea typeface="PingFang TC"/>
                        </a:rPr>
                        <a:t>過濾 / 合併</a:t>
                      </a:r>
                    </a:p>
                  </a:txBody>
                  <a:tcPr marT="25400" marB="25400" marL="1016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在 consumer 端做（worker 過濾 &lt; 1% 波動）</a:t>
                      </a:r>
                    </a:p>
                  </a:txBody>
                  <a:tcPr marT="25400" marB="25400" marL="1016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可在寫入端就做</a:t>
                      </a:r>
                    </a:p>
                  </a:txBody>
                  <a:tcPr marT="25400" marB="25400" marL="101600" marR="76200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2563EB"/>
                          </a:solidFill>
                          <a:latin typeface="PingFang TC"/>
                          <a:ea typeface="PingFang TC"/>
                        </a:rPr>
                        <a:t>侵入性</a:t>
                      </a:r>
                    </a:p>
                  </a:txBody>
                  <a:tcPr marT="25400" marB="25400" marL="101600" marR="762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寫入端零改動；多一個 tailer process</a:t>
                      </a:r>
                    </a:p>
                  </a:txBody>
                  <a:tcPr marT="25400" marB="25400" marL="101600" marR="762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每個寫入路徑都要記得發事件</a:t>
                      </a:r>
                    </a:p>
                  </a:txBody>
                  <a:tcPr marT="25400" marB="25400" marL="101600" marR="76200" anchor="ctr">
                    <a:solidFill>
                      <a:srgbClr val="F1F5F9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2563EB"/>
                          </a:solidFill>
                          <a:latin typeface="PingFang TC"/>
                          <a:ea typeface="PingFang TC"/>
                        </a:rPr>
                        <a:t>延遲</a:t>
                      </a:r>
                    </a:p>
                  </a:txBody>
                  <a:tcPr marT="25400" marB="25400" marL="1016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log → 事件通常 &lt; 1s（DynamoDB Streams 近即時）</a:t>
                      </a:r>
                    </a:p>
                  </a:txBody>
                  <a:tcPr marT="25400" marB="25400" marL="1016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即時</a:t>
                      </a:r>
                    </a:p>
                  </a:txBody>
                  <a:tcPr marT="25400" marB="25400" marL="101600" marR="762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548640" y="5120640"/>
            <a:ext cx="11109960" cy="109728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本專案：CDC。原型 SQLite/Postgres 的 seq 輪詢是「窮人版 log tail」（SELECT … WHERE seq &gt; checkpoint ORDER BY seq LIMIT 500，每秒一次）；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正式版換 DynamoDB Streams，事件格式不變、consumer 不用改。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深入 2 · DYNAMODB STREAMS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DynamoDB Streams 機制、三種消費形態、Redis Streams vs Kafka（附錄 B）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508760"/>
            <a:ext cx="5394960" cy="210312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5029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0F172A"/>
                </a:solidFill>
                <a:latin typeface="PingFang TC"/>
                <a:ea typeface="PingFang TC"/>
              </a:rPr>
              <a:t>Streams 機制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965960"/>
            <a:ext cx="50292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150" b="0">
                <a:solidFill>
                  <a:srgbClr val="0F172A"/>
                </a:solidFill>
                <a:latin typeface="PingFang TC"/>
                <a:ea typeface="PingFang TC"/>
              </a:rPr>
              <a:t>•  記錄 24 小時內每筆 INSERT / MODIFY / REMOVE，依 partition 分 shard</a:t>
            </a:r>
          </a:p>
          <a:p>
            <a:pPr>
              <a:spcAft>
                <a:spcPts val="500"/>
              </a:spcAft>
            </a:pPr>
            <a:r>
              <a:rPr sz="1150" b="0">
                <a:solidFill>
                  <a:srgbClr val="0F172A"/>
                </a:solidFill>
                <a:latin typeface="PingFang TC"/>
                <a:ea typeface="PingFang TC"/>
              </a:rPr>
              <a:t>•  同一 shard 內有序；同一 item 的變更一定在同一 shard 鏈</a:t>
            </a:r>
          </a:p>
          <a:p>
            <a:pPr>
              <a:spcAft>
                <a:spcPts val="500"/>
              </a:spcAft>
            </a:pPr>
            <a:r>
              <a:rPr sz="1150" b="0">
                <a:solidFill>
                  <a:srgbClr val="0F172A"/>
                </a:solidFill>
                <a:latin typeface="PingFang TC"/>
                <a:ea typeface="PingFang TC"/>
              </a:rPr>
              <a:t>•  describe_stream → get_shard_iterator(TRIM_HORIZON | AFTER_SEQUENCE_NUMBER) → get_records 迴圈</a:t>
            </a:r>
          </a:p>
          <a:p>
            <a:pPr>
              <a:spcAft>
                <a:spcPts val="500"/>
              </a:spcAft>
            </a:pPr>
            <a:r>
              <a:rPr sz="1150" b="0">
                <a:solidFill>
                  <a:srgbClr val="0F172A"/>
                </a:solidFill>
                <a:latin typeface="PingFang TC"/>
                <a:ea typeface="PingFang TC"/>
              </a:rPr>
              <a:t>•  shard 會關閉並分裂成 child shard → 要定期重列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1508760"/>
            <a:ext cx="5394960" cy="210312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520" y="1600200"/>
            <a:ext cx="5029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0F172A"/>
                </a:solidFill>
                <a:latin typeface="PingFang TC"/>
                <a:ea typeface="PingFang TC"/>
              </a:rPr>
              <a:t>Redis Streams vs Kafka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46520" y="1965960"/>
            <a:ext cx="50292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150" b="0">
                <a:solidFill>
                  <a:srgbClr val="0F172A"/>
                </a:solidFill>
                <a:latin typeface="PingFang TC"/>
                <a:ea typeface="PingFang TC"/>
              </a:rPr>
              <a:t>•  1 小時 SLA、每秒數千事件 → Redis Streams 夠用，compose 輕、與 Earthquake 同一套</a:t>
            </a:r>
          </a:p>
          <a:p>
            <a:pPr>
              <a:spcAft>
                <a:spcPts val="500"/>
              </a:spcAft>
            </a:pPr>
            <a:r>
              <a:rPr sz="1150" b="0">
                <a:solidFill>
                  <a:srgbClr val="0F172A"/>
                </a:solidFill>
                <a:latin typeface="PingFang TC"/>
                <a:ea typeface="PingFang TC"/>
              </a:rPr>
              <a:t>•  per-channel 好切：crawl / price_changed / notify:sse / notify:email</a:t>
            </a:r>
          </a:p>
          <a:p>
            <a:pPr>
              <a:spcAft>
                <a:spcPts val="500"/>
              </a:spcAft>
            </a:pPr>
            <a:r>
              <a:rPr sz="1150" b="0">
                <a:solidFill>
                  <a:srgbClr val="0F172A"/>
                </a:solidFill>
                <a:latin typeface="PingFang TC"/>
                <a:ea typeface="PingFang TC"/>
              </a:rPr>
              <a:t>•  要長期回放 / 多下游（OLAP、data warehouse）→ Kafka 當 log，Redis 當工作佇列</a:t>
            </a:r>
          </a:p>
          <a:p>
            <a:pPr>
              <a:spcAft>
                <a:spcPts val="500"/>
              </a:spcAft>
            </a:pPr>
            <a:r>
              <a:rPr sz="1150" b="0">
                <a:solidFill>
                  <a:srgbClr val="0F172A"/>
                </a:solidFill>
                <a:latin typeface="PingFang TC"/>
                <a:ea typeface="PingFang TC"/>
              </a:rPr>
              <a:t>•  SQS 淘汰：沒 consumer group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48640" y="3794760"/>
          <a:ext cx="1110996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4206240"/>
                <a:gridCol w="2103120"/>
                <a:gridCol w="2423160"/>
              </a:tblGrid>
              <a:tr h="5943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消費形態</a:t>
                      </a:r>
                    </a:p>
                  </a:txBody>
                  <a:tcPr marT="25400" marB="25400" marL="101600" marR="762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做法</a:t>
                      </a:r>
                    </a:p>
                  </a:txBody>
                  <a:tcPr marT="25400" marB="25400" marL="101600" marR="762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優</a:t>
                      </a:r>
                    </a:p>
                  </a:txBody>
                  <a:tcPr marT="25400" marB="25400" marL="101600" marR="762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劣</a:t>
                      </a:r>
                    </a:p>
                  </a:txBody>
                  <a:tcPr marT="25400" marB="25400" marL="101600" marR="76200" anchor="ctr">
                    <a:solidFill>
                      <a:srgbClr val="2563EB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2563EB"/>
                          </a:solidFill>
                          <a:latin typeface="PingFang TC"/>
                          <a:ea typeface="PingFang TC"/>
                        </a:rPr>
                        <a:t>① 自己 tail（本專案）</a:t>
                      </a:r>
                    </a:p>
                  </a:txBody>
                  <a:tcPr marT="25400" marB="25400" marL="1016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worker 用 boto3 直接讀；checkpoint（SequenceNumber）存 Postgres cdc_checkpoint</a:t>
                      </a:r>
                    </a:p>
                  </a:txBody>
                  <a:tcPr marT="25400" marB="25400" marL="1016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單一 codebase、不需 Lambda</a:t>
                      </a:r>
                    </a:p>
                  </a:txBody>
                  <a:tcPr marT="25400" marB="25400" marL="1016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多 worker 時要自己做 shard lease</a:t>
                      </a:r>
                    </a:p>
                  </a:txBody>
                  <a:tcPr marT="25400" marB="25400" marL="101600" marR="76200" anchor="ctr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2563EB"/>
                          </a:solidFill>
                          <a:latin typeface="PingFang TC"/>
                          <a:ea typeface="PingFang TC"/>
                        </a:rPr>
                        <a:t>② Lambda event source mapping</a:t>
                      </a:r>
                    </a:p>
                  </a:txBody>
                  <a:tcPr marT="25400" marB="25400" marL="101600" marR="762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AWS 管 checkpoint / 重試；Lambda 把事件轉丟 Redis Streams</a:t>
                      </a:r>
                    </a:p>
                  </a:txBody>
                  <a:tcPr marT="25400" marB="25400" marL="101600" marR="762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免管 checkpoint</a:t>
                      </a:r>
                    </a:p>
                  </a:txBody>
                  <a:tcPr marT="25400" marB="25400" marL="101600" marR="762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多一個 runtime</a:t>
                      </a:r>
                    </a:p>
                  </a:txBody>
                  <a:tcPr marT="25400" marB="25400" marL="101600" marR="76200" anchor="ctr">
                    <a:solidFill>
                      <a:srgbClr val="F1F5F9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2563EB"/>
                          </a:solidFill>
                          <a:latin typeface="PingFang TC"/>
                          <a:ea typeface="PingFang TC"/>
                        </a:rPr>
                        <a:t>③ KCL + Kinesis Adapter</a:t>
                      </a:r>
                    </a:p>
                  </a:txBody>
                  <a:tcPr marT="25400" marB="25400" marL="1016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DynamoDB Streams Kinesis Adapter + KCL</a:t>
                      </a:r>
                    </a:p>
                  </a:txBody>
                  <a:tcPr marT="25400" marB="25400" marL="1016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多 worker shard lease 現成</a:t>
                      </a:r>
                    </a:p>
                  </a:txBody>
                  <a:tcPr marT="25400" marB="25400" marL="1016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較重</a:t>
                      </a:r>
                    </a:p>
                  </a:txBody>
                  <a:tcPr marT="25400" marB="25400" marL="101600" marR="762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深入 2 · WORKER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price-change worker 邏輯 + outbox 狀態機（app/worker_notify.py，附錄 G）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554480"/>
            <a:ext cx="1783080" cy="1234440"/>
          </a:xfrm>
          <a:prstGeom prst="roundRect">
            <a:avLst/>
          </a:prstGeom>
          <a:solidFill>
            <a:srgbClr val="7C3AED"/>
          </a:solidFill>
          <a:ln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① prev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prev = last_event_price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（消費端自己記，與寫入端分離）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240280" y="2167128"/>
            <a:ext cx="109728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2350008" y="1554480"/>
            <a:ext cx="1783080" cy="123444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② join 索引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WHERE product_id AND status='active'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AND price_threshold &gt;= new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133088" y="2167128"/>
            <a:ext cx="109728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242816" y="1554480"/>
            <a:ext cx="1783080" cy="1234440"/>
          </a:xfrm>
          <a:prstGeom prst="roundRect">
            <a:avLst/>
          </a:prstGeom>
          <a:solidFill>
            <a:srgbClr val="D97706"/>
          </a:solidFill>
          <a:ln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③ 小波動過濾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|Δ| &lt; 1% 且沒人「這次才跨過門檻」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→ 不通知、不寫 outbox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025896" y="2167128"/>
            <a:ext cx="109728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135624" y="1554480"/>
            <a:ext cx="1783080" cy="1234440"/>
          </a:xfrm>
          <a:prstGeom prst="roundRect">
            <a:avLst/>
          </a:prstGeom>
          <a:solidFill>
            <a:srgbClr val="0EA5E9"/>
          </a:solidFill>
          <a:ln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④ cooldown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已通知 $120 → $118 再通知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$119.5 不通知 (SKIPPED_COOLDOWN)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918704" y="2167128"/>
            <a:ext cx="109728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8028432" y="1554480"/>
            <a:ext cx="1783080" cy="123444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⑤ outbox 冪等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id = sha256(sub_id|event_seq)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重播 / 重啟不重送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9811512" y="2167128"/>
            <a:ext cx="109728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9921240" y="1554480"/>
            <a:ext cx="1783080" cy="123444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⑥ 回升重設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價格回到門檻之上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→ last_notified_price = NULL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017520"/>
            <a:ext cx="11155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0F172A"/>
                </a:solidFill>
                <a:latin typeface="PingFang TC"/>
                <a:ea typeface="PingFang TC"/>
              </a:rPr>
              <a:t>outbox 狀態機（sender per channel）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474720"/>
            <a:ext cx="2103120" cy="100584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PingFang TC"/>
                <a:ea typeface="PingFang TC"/>
              </a:rPr>
              <a:t>ENQUEUED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worker 寫 outbox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丟 notify:{type}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715768" y="3474720"/>
            <a:ext cx="2103120" cy="1005840"/>
          </a:xfrm>
          <a:prstGeom prst="roundRect">
            <a:avLst/>
          </a:prstGeom>
          <a:solidFill>
            <a:srgbClr val="0EA5E9"/>
          </a:solidFill>
          <a:ln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PingFang TC"/>
                <a:ea typeface="PingFang TC"/>
              </a:rPr>
              <a:t>ATTEMPTED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sender terminal 檢查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→ 標記送出中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974336" y="3474720"/>
            <a:ext cx="2103120" cy="100584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PingFang TC"/>
                <a:ea typeface="PingFang TC"/>
              </a:rPr>
              <a:t>VENDOR_ACCEPTED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SES / SSE 成功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寫 last_notified_price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232904" y="3474720"/>
            <a:ext cx="2103120" cy="1005840"/>
          </a:xfrm>
          <a:prstGeom prst="roundRect">
            <a:avLst/>
          </a:prstGeom>
          <a:solidFill>
            <a:srgbClr val="DC2626"/>
          </a:solidFill>
          <a:ln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PingFang TC"/>
                <a:ea typeface="PingFang TC"/>
              </a:rPr>
              <a:t>FAILED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vendor 拒絕 / 例外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可觀測、可重試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491472" y="3474720"/>
            <a:ext cx="2103120" cy="1005840"/>
          </a:xfrm>
          <a:prstGeom prst="roundRect">
            <a:avLst/>
          </a:prstGeom>
          <a:solidFill>
            <a:srgbClr val="D97706"/>
          </a:solidFill>
          <a:ln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PingFang TC"/>
                <a:ea typeface="PingFang TC"/>
              </a:rPr>
              <a:t>SKIPPED_COOLDOWN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沒更便宜 → 不送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仍記一筆讓狀態可觀測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2560320" y="3977640"/>
            <a:ext cx="155448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4818888" y="3977640"/>
            <a:ext cx="155448" cy="0"/>
          </a:xfrm>
          <a:prstGeom prst="line">
            <a:avLst/>
          </a:prstGeom>
          <a:ln w="22225">
            <a:solidFill>
              <a:srgbClr val="0596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4818888" y="4251960"/>
            <a:ext cx="2414016" cy="137160"/>
          </a:xfrm>
          <a:prstGeom prst="line">
            <a:avLst/>
          </a:prstGeom>
          <a:ln w="15240">
            <a:solidFill>
              <a:srgbClr val="DC262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457200" y="4754880"/>
            <a:ext cx="112471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50" b="0">
                <a:solidFill>
                  <a:srgbClr val="0F172A"/>
                </a:solidFill>
                <a:latin typeface="PingFang TC"/>
                <a:ea typeface="PingFang TC"/>
              </a:rPr>
              <a:t>•  本質是 event stream ⋈ DB：每個事件只查該商品的訂閱，走 (product_id, price_threshold, user_id) covering index，不掃全表</a:t>
            </a:r>
          </a:p>
          <a:p>
            <a:pPr>
              <a:spcAft>
                <a:spcPts val="600"/>
              </a:spcAft>
            </a:pPr>
            <a:r>
              <a:rPr sz="1250" b="0">
                <a:solidFill>
                  <a:srgbClr val="0F172A"/>
                </a:solidFill>
                <a:latin typeface="PingFang TC"/>
                <a:ea typeface="PingFang TC"/>
              </a:rPr>
              <a:t>•  at-least-once（tailer 重播、worker 重啟）由 notification_id 冪等吸收：同一價格事件對同一訂閱只會有一筆 outbox</a:t>
            </a:r>
          </a:p>
          <a:p>
            <a:pPr>
              <a:spcAft>
                <a:spcPts val="600"/>
              </a:spcAft>
            </a:pPr>
            <a:r>
              <a:rPr sz="1250" b="0">
                <a:solidFill>
                  <a:srgbClr val="0F172A"/>
                </a:solidFill>
                <a:latin typeface="PingFang TC"/>
                <a:ea typeface="PingFang TC"/>
              </a:rPr>
              <a:t>•  dual-write 論點裡的「寫入端過濾 / 合併」在 CDC 架構下改放 consumer 端做（第 ③ 步）</a:t>
            </a:r>
          </a:p>
          <a:p>
            <a:pPr>
              <a:spcAft>
                <a:spcPts val="600"/>
              </a:spcAft>
            </a:pPr>
            <a:r>
              <a:rPr sz="1250" b="0">
                <a:solidFill>
                  <a:srgbClr val="0F172A"/>
                </a:solidFill>
                <a:latin typeface="PingFang TC"/>
                <a:ea typeface="PingFang TC"/>
              </a:rPr>
              <a:t>•  demo 已驗證：降價通知（SSE）→ 同價過濾 → 再跌再通知；outbox 面板每 3 秒輪詢看狀態機變化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深入 3 · HISTORY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如何快速提供價格歷史查詢以支援圖表？— raw 查詢 → pre-aggregation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508760"/>
            <a:ext cx="5394960" cy="118872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76200" tIns="101600"/>
          <a:lstStyle/>
          <a:p>
            <a:pPr algn="ctr"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SELECT date_trunc('day', ts), avg(price) FROM prices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 WHERE product_id = :pid AND ts &gt;= now() - interval '2y'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 GROUP BY 1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64748B"/>
                </a:solidFill>
                <a:latin typeface="Menlo"/>
              </a:rPr>
              <a:t>-- 熱門商品掃 17,520 列；數百萬使用者同時畫圖撐不住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63640" y="1508760"/>
            <a:ext cx="5394960" cy="118872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pre-aggregation（app/aggregation.py）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背景 job 把 raw 彙總進 price_aggregations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PK=(product_id, granularity, bucket_start) · avg/min/max/close/n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943600" y="2103120"/>
            <a:ext cx="32004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2926080"/>
          <a:ext cx="539496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1097280"/>
                <a:gridCol w="1554480"/>
                <a:gridCol w="1280160"/>
              </a:tblGrid>
              <a:tr h="38862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period</a:t>
                      </a:r>
                    </a:p>
                  </a:txBody>
                  <a:tcPr marT="25400" marB="25400" marL="101600" marR="762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粒度</a:t>
                      </a:r>
                    </a:p>
                  </a:txBody>
                  <a:tcPr marT="25400" marB="25400" marL="101600" marR="762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彙總列數（每小時一筆）</a:t>
                      </a:r>
                    </a:p>
                  </a:txBody>
                  <a:tcPr marT="25400" marB="25400" marL="101600" marR="762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raw 列數</a:t>
                      </a:r>
                    </a:p>
                  </a:txBody>
                  <a:tcPr marT="25400" marB="25400" marL="101600" marR="76200" anchor="ctr">
                    <a:solidFill>
                      <a:srgbClr val="2563EB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2563EB"/>
                          </a:solidFill>
                          <a:latin typeface="PingFang TC"/>
                          <a:ea typeface="PingFang TC"/>
                        </a:rPr>
                        <a:t>7d / 30d / 90d</a:t>
                      </a:r>
                    </a:p>
                  </a:txBody>
                  <a:tcPr marT="25400" marB="25400" marL="1016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daily</a:t>
                      </a:r>
                    </a:p>
                  </a:txBody>
                  <a:tcPr marT="25400" marB="25400" marL="1016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7 / 30 / 90</a:t>
                      </a:r>
                    </a:p>
                  </a:txBody>
                  <a:tcPr marT="25400" marB="25400" marL="1016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168 / 720 / 2,160</a:t>
                      </a:r>
                    </a:p>
                  </a:txBody>
                  <a:tcPr marT="25400" marB="25400" marL="101600" marR="76200" anchor="ctr"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2563EB"/>
                          </a:solidFill>
                          <a:latin typeface="PingFang TC"/>
                          <a:ea typeface="PingFang TC"/>
                        </a:rPr>
                        <a:t>1y</a:t>
                      </a:r>
                    </a:p>
                  </a:txBody>
                  <a:tcPr marT="25400" marB="25400" marL="101600" marR="762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weekly</a:t>
                      </a:r>
                    </a:p>
                  </a:txBody>
                  <a:tcPr marT="25400" marB="25400" marL="101600" marR="762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52</a:t>
                      </a:r>
                    </a:p>
                  </a:txBody>
                  <a:tcPr marT="25400" marB="25400" marL="101600" marR="762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8,760</a:t>
                      </a:r>
                    </a:p>
                  </a:txBody>
                  <a:tcPr marT="25400" marB="25400" marL="101600" marR="76200" anchor="ctr">
                    <a:solidFill>
                      <a:srgbClr val="F1F5F9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2563EB"/>
                          </a:solidFill>
                          <a:latin typeface="PingFang TC"/>
                          <a:ea typeface="PingFang TC"/>
                        </a:rPr>
                        <a:t>2y</a:t>
                      </a:r>
                    </a:p>
                  </a:txBody>
                  <a:tcPr marT="25400" marB="25400" marL="1016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monthly</a:t>
                      </a:r>
                    </a:p>
                  </a:txBody>
                  <a:tcPr marT="25400" marB="25400" marL="1016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24</a:t>
                      </a:r>
                    </a:p>
                  </a:txBody>
                  <a:tcPr marT="25400" marB="25400" marL="1016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17,520</a:t>
                      </a:r>
                    </a:p>
                  </a:txBody>
                  <a:tcPr marT="25400" marB="25400" marL="101600" marR="762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263640" y="2926080"/>
          <a:ext cx="539496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8880"/>
                <a:gridCol w="1463040"/>
                <a:gridCol w="1463040"/>
              </a:tblGrid>
              <a:tr h="38862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實測（本機 SQLite）</a:t>
                      </a:r>
                    </a:p>
                  </a:txBody>
                  <a:tcPr marT="25400" marB="25400" marL="101600" marR="762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rows_scanned</a:t>
                      </a:r>
                    </a:p>
                  </a:txBody>
                  <a:tcPr marT="25400" marB="25400" marL="101600" marR="762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latency</a:t>
                      </a:r>
                    </a:p>
                  </a:txBody>
                  <a:tcPr marT="25400" marB="25400" marL="101600" marR="76200" anchor="ctr">
                    <a:solidFill>
                      <a:srgbClr val="2563EB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2563EB"/>
                          </a:solidFill>
                          <a:latin typeface="PingFang TC"/>
                          <a:ea typeface="PingFang TC"/>
                        </a:rPr>
                        <a:t>30 天圖 · raw fallback</a:t>
                      </a:r>
                    </a:p>
                  </a:txBody>
                  <a:tcPr marT="25400" marB="25400" marL="1016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720 列</a:t>
                      </a:r>
                    </a:p>
                  </a:txBody>
                  <a:tcPr marT="25400" marB="25400" marL="1016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2.9 ms</a:t>
                      </a:r>
                    </a:p>
                  </a:txBody>
                  <a:tcPr marT="25400" marB="25400" marL="101600" marR="76200" anchor="ctr"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2563EB"/>
                          </a:solidFill>
                          <a:latin typeface="PingFang TC"/>
                          <a:ea typeface="PingFang TC"/>
                        </a:rPr>
                        <a:t>30 天圖 · 彙總後</a:t>
                      </a:r>
                    </a:p>
                  </a:txBody>
                  <a:tcPr marT="25400" marB="25400" marL="101600" marR="76200" anchor="ctr"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31 列</a:t>
                      </a:r>
                    </a:p>
                  </a:txBody>
                  <a:tcPr marT="25400" marB="25400" marL="101600" marR="76200" anchor="ctr"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0.65 ms</a:t>
                      </a:r>
                    </a:p>
                  </a:txBody>
                  <a:tcPr marT="25400" marB="25400" marL="101600" marR="76200" anchor="ctr">
                    <a:solidFill>
                      <a:srgbClr val="DCFCE7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2563EB"/>
                          </a:solidFill>
                          <a:latin typeface="PingFang TC"/>
                          <a:ea typeface="PingFang TC"/>
                        </a:rPr>
                        <a:t>2 年圖 · 彙總後</a:t>
                      </a:r>
                    </a:p>
                  </a:txBody>
                  <a:tcPr marT="25400" marB="25400" marL="101600" marR="76200" anchor="ctr"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25 列</a:t>
                      </a:r>
                    </a:p>
                  </a:txBody>
                  <a:tcPr marT="25400" marB="25400" marL="101600" marR="76200" anchor="ctr"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0.57 ms</a:t>
                      </a:r>
                    </a:p>
                  </a:txBody>
                  <a:tcPr marT="25400" marB="25400" marL="101600" marR="76200" anchor="ctr">
                    <a:solidFill>
                      <a:srgbClr val="DCFCE7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48640" y="4709160"/>
            <a:ext cx="111556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50" b="0">
                <a:solidFill>
                  <a:srgbClr val="0F172A"/>
                </a:solidFill>
                <a:latin typeface="PingFang TC"/>
                <a:ea typeface="PingFang TC"/>
              </a:rPr>
              <a:t>•  API 依 period 選粒度：≤ 90d daily、≤ 1y weekly、&gt; 1y monthly → 30 天圖讀 30 列、2 年圖讀 24 列，毫秒級回</a:t>
            </a:r>
          </a:p>
          <a:p>
            <a:pPr>
              <a:spcAft>
                <a:spcPts val="600"/>
              </a:spcAft>
            </a:pPr>
            <a:r>
              <a:rPr sz="1250" b="0">
                <a:solidFill>
                  <a:srgbClr val="0F172A"/>
                </a:solidFill>
                <a:latin typeface="PingFang TC"/>
                <a:ea typeface="PingFang TC"/>
              </a:rPr>
              <a:t>•  17,520 列彙總後 → daily 731 / weekly 106 / monthly 25（最新 bucket 是「開放中」的，每次彙總會重算）</a:t>
            </a:r>
          </a:p>
          <a:p>
            <a:pPr>
              <a:spcAft>
                <a:spcPts val="600"/>
              </a:spcAft>
            </a:pPr>
            <a:r>
              <a:rPr sz="1250" b="0">
                <a:solidFill>
                  <a:srgbClr val="0F172A"/>
                </a:solidFill>
                <a:latin typeface="PingFang TC"/>
                <a:ea typeface="PingFang TC"/>
              </a:rPr>
              <a:t>•  原型每 5 分鐘增量重算有新價格的商品 + 「立即彙總」按鈕；正式版夜間 EventBridge job（可掛 read replica 專門掃）</a:t>
            </a:r>
          </a:p>
          <a:p>
            <a:pPr>
              <a:spcAft>
                <a:spcPts val="600"/>
              </a:spcAft>
            </a:pPr>
            <a:r>
              <a:rPr sz="1250" b="0">
                <a:solidFill>
                  <a:srgbClr val="0F172A"/>
                </a:solidFill>
                <a:latin typeface="PingFang TC"/>
                <a:ea typeface="PingFang TC"/>
              </a:rPr>
              <a:t>•  儲存線性成長：每商品 daily 365 × 年 + weekly + monthly；DynamoDB 只放 raw，彙總表在 Postgres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深入 3 · TRADE-OFFS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新鮮度、raw fallback 與 OLAP / TSDB 替代（附錄 F）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3566160" cy="548640"/>
          </a:xfrm>
          <a:prstGeom prst="roundRect">
            <a:avLst/>
          </a:prstGeom>
          <a:solidFill>
            <a:srgbClr val="D97706"/>
          </a:solidFill>
          <a:ln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600" b="1">
                <a:solidFill>
                  <a:srgbClr val="FFFFFF"/>
                </a:solidFill>
                <a:latin typeface="PingFang TC"/>
                <a:ea typeface="PingFang TC"/>
              </a:rPr>
              <a:t>新鮮度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240280"/>
            <a:ext cx="3566160" cy="320040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423160"/>
            <a:ext cx="32004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彙總最多落後一個週期（正式版 ≤ 24h）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圖表看趨勢可接受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即時價從 products.last_price 另外給（current_price 欄位）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最新 bucket 開放中，每次彙總重算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43400" y="1600200"/>
            <a:ext cx="3566160" cy="548640"/>
          </a:xfrm>
          <a:prstGeom prst="roundRect">
            <a:avLst/>
          </a:prstGeom>
          <a:solidFill>
            <a:srgbClr val="0EA5E9"/>
          </a:solidFill>
          <a:ln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600" b="1">
                <a:solidFill>
                  <a:srgbClr val="FFFFFF"/>
                </a:solidFill>
                <a:latin typeface="PingFang TC"/>
                <a:ea typeface="PingFang TC"/>
              </a:rPr>
              <a:t>raw fallback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2240280"/>
            <a:ext cx="3566160" cy="320040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26280" y="2423160"/>
            <a:ext cx="32004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新商品還沒彙總 → 現算 date_trunc + avg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回應標 source="raw_fallback"，圖照樣能畫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demo 面板顯示 raw 列數 vs 彙總列數與延遲，看得到差異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彙總 job 掛掉 → 讀路徑仍可畫圖（fail-soft，附錄 M）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38160" y="1600200"/>
            <a:ext cx="3566160" cy="548640"/>
          </a:xfrm>
          <a:prstGeom prst="roundRect">
            <a:avLst/>
          </a:prstGeom>
          <a:solidFill>
            <a:srgbClr val="7C3AED"/>
          </a:solidFill>
          <a:ln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600" b="1">
                <a:solidFill>
                  <a:srgbClr val="FFFFFF"/>
                </a:solidFill>
                <a:latin typeface="PingFang TC"/>
                <a:ea typeface="PingFang TC"/>
              </a:rPr>
              <a:t>OLAP / TSDB 替代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8160" y="2240280"/>
            <a:ext cx="3566160" cy="320040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21040" y="2423160"/>
            <a:ext cx="32004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ClickHouse / InfluxDB（column-oriented）對 avg/min/max 很快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適合跨商品分析、heavy join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ingestion：OLTP → CDC → stream → OLAP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本專案的 CDC 管線加一個 consumer 即可灌 OLAP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5577840"/>
            <a:ext cx="11155680" cy="73152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取捨：用「落後一個週期」換「讀 30 列 vs 17,520 列」；歷史圖不需要即時，即時價另給 —— 兩條讀路徑各司其職。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PROTOTYPE → PRODUCTION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原型 vs Production（全 env-gated，本機零依賴）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463040"/>
          <a:ext cx="11109960" cy="4480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3291840"/>
                <a:gridCol w="3200400"/>
                <a:gridCol w="2240280"/>
              </a:tblGrid>
              <a:tr h="37338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面向</a:t>
                      </a:r>
                    </a:p>
                  </a:txBody>
                  <a:tcPr marT="25400" marB="25400" marL="101600" marR="762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原型（本機）</a:t>
                      </a:r>
                    </a:p>
                  </a:txBody>
                  <a:tcPr marT="25400" marB="25400" marL="101600" marR="762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Production（雲端）</a:t>
                      </a:r>
                    </a:p>
                  </a:txBody>
                  <a:tcPr marT="25400" marB="25400" marL="101600" marR="762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切換 env</a:t>
                      </a:r>
                    </a:p>
                  </a:txBody>
                  <a:tcPr marT="25400" marB="25400" marL="101600" marR="76200" anchor="ctr">
                    <a:solidFill>
                      <a:srgbClr val="2563EB"/>
                    </a:solidFill>
                  </a:tcPr>
                </a:tc>
              </a:tr>
              <a:tr h="37338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2563EB"/>
                          </a:solidFill>
                          <a:latin typeface="PingFang TC"/>
                          <a:ea typeface="PingFang TC"/>
                        </a:rPr>
                        <a:t>Price DB</a:t>
                      </a:r>
                    </a:p>
                  </a:txBody>
                  <a:tcPr marT="25400" marB="25400" marL="1016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SQLite prices（seq）</a:t>
                      </a:r>
                    </a:p>
                  </a:txBody>
                  <a:tcPr marT="25400" marB="25400" marL="1016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DynamoDB（product_id, ts）</a:t>
                      </a:r>
                    </a:p>
                  </a:txBody>
                  <a:tcPr marT="25400" marB="25400" marL="1016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PRICE_TABLE</a:t>
                      </a:r>
                    </a:p>
                  </a:txBody>
                  <a:tcPr marT="25400" marB="25400" marL="101600" marR="76200" anchor="ctr">
                    <a:solidFill>
                      <a:srgbClr val="FFFFFF"/>
                    </a:solidFill>
                  </a:tcPr>
                </a:tc>
              </a:tr>
              <a:tr h="37338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2563EB"/>
                          </a:solidFill>
                          <a:latin typeface="PingFang TC"/>
                          <a:ea typeface="PingFang TC"/>
                        </a:rPr>
                        <a:t>CDC</a:t>
                      </a:r>
                    </a:p>
                  </a:txBody>
                  <a:tcPr marT="25400" marB="25400" marL="101600" marR="762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seq 輪詢 tailer</a:t>
                      </a:r>
                    </a:p>
                  </a:txBody>
                  <a:tcPr marT="25400" marB="25400" marL="101600" marR="762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DynamoDB Streams tailer</a:t>
                      </a:r>
                    </a:p>
                  </a:txBody>
                  <a:tcPr marT="25400" marB="25400" marL="101600" marR="762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PRICE_TABLE</a:t>
                      </a:r>
                    </a:p>
                  </a:txBody>
                  <a:tcPr marT="25400" marB="25400" marL="101600" marR="76200" anchor="ctr">
                    <a:solidFill>
                      <a:srgbClr val="F1F5F9"/>
                    </a:solidFill>
                  </a:tcPr>
                </a:tc>
              </a:tr>
              <a:tr h="37338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2563EB"/>
                          </a:solidFill>
                          <a:latin typeface="PingFang TC"/>
                          <a:ea typeface="PingFang TC"/>
                        </a:rPr>
                        <a:t>Queue</a:t>
                      </a:r>
                    </a:p>
                  </a:txBody>
                  <a:tcPr marT="25400" marB="25400" marL="1016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asyncio.Queue（per-channel）</a:t>
                      </a:r>
                    </a:p>
                  </a:txBody>
                  <a:tcPr marT="25400" marB="25400" marL="1016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Redis Streams</a:t>
                      </a:r>
                    </a:p>
                  </a:txBody>
                  <a:tcPr marT="25400" marB="25400" marL="1016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REDIS_URL</a:t>
                      </a:r>
                    </a:p>
                  </a:txBody>
                  <a:tcPr marT="25400" marB="25400" marL="101600" marR="76200" anchor="ctr">
                    <a:solidFill>
                      <a:srgbClr val="FFFFFF"/>
                    </a:solidFill>
                  </a:tcPr>
                </a:tc>
              </a:tr>
              <a:tr h="37338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2563EB"/>
                          </a:solidFill>
                          <a:latin typeface="PingFang TC"/>
                          <a:ea typeface="PingFang TC"/>
                        </a:rPr>
                        <a:t>目錄 / 訂閱 / 彙總 / outbox</a:t>
                      </a:r>
                    </a:p>
                  </a:txBody>
                  <a:tcPr marT="25400" marB="25400" marL="101600" marR="762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SQLite</a:t>
                      </a:r>
                    </a:p>
                  </a:txBody>
                  <a:tcPr marT="25400" marB="25400" marL="101600" marR="762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RDS PostgreSQL</a:t>
                      </a:r>
                    </a:p>
                  </a:txBody>
                  <a:tcPr marT="25400" marB="25400" marL="101600" marR="762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DATABASE_URL</a:t>
                      </a:r>
                    </a:p>
                  </a:txBody>
                  <a:tcPr marT="25400" marB="25400" marL="101600" marR="76200" anchor="ctr">
                    <a:solidFill>
                      <a:srgbClr val="F1F5F9"/>
                    </a:solidFill>
                  </a:tcPr>
                </a:tc>
              </a:tr>
              <a:tr h="37338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2563EB"/>
                          </a:solidFill>
                          <a:latin typeface="PingFang TC"/>
                          <a:ea typeface="PingFang TC"/>
                        </a:rPr>
                        <a:t>Crawler</a:t>
                      </a:r>
                    </a:p>
                  </a:txBody>
                  <a:tcPr marT="25400" marB="25400" marL="1016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真抓 amazon.com（curl_cffi）；MOCK_AMAZON=1 離線</a:t>
                      </a:r>
                    </a:p>
                  </a:txBody>
                  <a:tcPr marT="25400" marB="25400" marL="1016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同，worker ASG + 美國出口 IP / proxy pool</a:t>
                      </a:r>
                    </a:p>
                  </a:txBody>
                  <a:tcPr marT="25400" marB="25400" marL="1016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MOCK_AMAZON · AMAZON_DOMAIN · CRAWL_RPS</a:t>
                      </a:r>
                    </a:p>
                  </a:txBody>
                  <a:tcPr marT="25400" marB="25400" marL="101600" marR="76200" anchor="ctr">
                    <a:solidFill>
                      <a:srgbClr val="FFFFFF"/>
                    </a:solidFill>
                  </a:tcPr>
                </a:tc>
              </a:tr>
              <a:tr h="37338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2563EB"/>
                          </a:solidFill>
                          <a:latin typeface="PingFang TC"/>
                          <a:ea typeface="PingFang TC"/>
                        </a:rPr>
                        <a:t>Playwright fallback</a:t>
                      </a:r>
                    </a:p>
                  </a:txBody>
                  <a:tcPr marT="25400" marB="25400" marL="101600" marR="762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未裝不啟用</a:t>
                      </a:r>
                    </a:p>
                  </a:txBody>
                  <a:tcPr marT="25400" marB="25400" marL="101600" marR="762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--build-arg WITH_PLAYWRIGHT=1</a:t>
                      </a:r>
                    </a:p>
                  </a:txBody>
                  <a:tcPr marT="25400" marB="25400" marL="101600" marR="762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CRAWLER_PLAYWRIGHT</a:t>
                      </a:r>
                    </a:p>
                  </a:txBody>
                  <a:tcPr marT="25400" marB="25400" marL="101600" marR="76200" anchor="ctr">
                    <a:solidFill>
                      <a:srgbClr val="F1F5F9"/>
                    </a:solidFill>
                  </a:tcPr>
                </a:tc>
              </a:tr>
              <a:tr h="37338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2563EB"/>
                          </a:solidFill>
                          <a:latin typeface="PingFang TC"/>
                          <a:ea typeface="PingFang TC"/>
                        </a:rPr>
                        <a:t>通知</a:t>
                      </a:r>
                    </a:p>
                  </a:txBody>
                  <a:tcPr marT="25400" marB="25400" marL="1016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SSE 到瀏覽器；email dry-run</a:t>
                      </a:r>
                    </a:p>
                  </a:txBody>
                  <a:tcPr marT="25400" marB="25400" marL="1016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SES email</a:t>
                      </a:r>
                    </a:p>
                  </a:txBody>
                  <a:tcPr marT="25400" marB="25400" marL="1016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SES_FROM_EMAIL</a:t>
                      </a:r>
                    </a:p>
                  </a:txBody>
                  <a:tcPr marT="25400" marB="25400" marL="101600" marR="76200" anchor="ctr">
                    <a:solidFill>
                      <a:srgbClr val="FFFFFF"/>
                    </a:solidFill>
                  </a:tcPr>
                </a:tc>
              </a:tr>
              <a:tr h="37338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2563EB"/>
                          </a:solidFill>
                          <a:latin typeface="PingFang TC"/>
                          <a:ea typeface="PingFang TC"/>
                        </a:rPr>
                        <a:t>彙總</a:t>
                      </a:r>
                    </a:p>
                  </a:txBody>
                  <a:tcPr marT="25400" marB="25400" marL="101600" marR="762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in-proc 每 5 分鐘</a:t>
                      </a:r>
                    </a:p>
                  </a:txBody>
                  <a:tcPr marT="25400" marB="25400" marL="101600" marR="762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EventBridge 夜間 job + in-proc 增量</a:t>
                      </a:r>
                    </a:p>
                  </a:txBody>
                  <a:tcPr marT="25400" marB="25400" marL="101600" marR="762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AGG_INTERVAL_S</a:t>
                      </a:r>
                    </a:p>
                  </a:txBody>
                  <a:tcPr marT="25400" marB="25400" marL="101600" marR="76200" anchor="ctr">
                    <a:solidFill>
                      <a:srgbClr val="F1F5F9"/>
                    </a:solidFill>
                  </a:tcPr>
                </a:tc>
              </a:tr>
              <a:tr h="37338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2563EB"/>
                          </a:solidFill>
                          <a:latin typeface="PingFang TC"/>
                          <a:ea typeface="PingFang TC"/>
                        </a:rPr>
                        <a:t>Scheduler / tailer / workers</a:t>
                      </a:r>
                    </a:p>
                  </a:txBody>
                  <a:tcPr marT="25400" marB="25400" marL="1016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主程序 asyncio task</a:t>
                      </a:r>
                    </a:p>
                  </a:txBody>
                  <a:tcPr marT="25400" marB="25400" marL="1016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worker ASG（ROLE=worker）</a:t>
                      </a:r>
                    </a:p>
                  </a:txBody>
                  <a:tcPr marT="25400" marB="25400" marL="1016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ROLE</a:t>
                      </a:r>
                    </a:p>
                  </a:txBody>
                  <a:tcPr marT="25400" marB="25400" marL="101600" marR="76200" anchor="ctr">
                    <a:solidFill>
                      <a:srgbClr val="FFFFFF"/>
                    </a:solidFill>
                  </a:tcPr>
                </a:tc>
              </a:tr>
              <a:tr h="37338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2563EB"/>
                          </a:solidFill>
                          <a:latin typeface="PingFang TC"/>
                          <a:ea typeface="PingFang TC"/>
                        </a:rPr>
                        <a:t>reporter 限流</a:t>
                      </a:r>
                    </a:p>
                  </a:txBody>
                  <a:tcPr marT="25400" marB="25400" marL="101600" marR="762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記憶體 deque</a:t>
                      </a:r>
                    </a:p>
                  </a:txBody>
                  <a:tcPr marT="25400" marB="25400" marL="101600" marR="762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Redis INCR + EXPIRE</a:t>
                      </a:r>
                    </a:p>
                  </a:txBody>
                  <a:tcPr marT="25400" marB="25400" marL="101600" marR="762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部署形態</a:t>
                      </a:r>
                    </a:p>
                  </a:txBody>
                  <a:tcPr marT="25400" marB="25400" marL="101600" marR="76200" anchor="ctr">
                    <a:solidFill>
                      <a:srgbClr val="F1F5F9"/>
                    </a:solidFill>
                  </a:tcPr>
                </a:tc>
              </a:tr>
              <a:tr h="37338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2563EB"/>
                          </a:solidFill>
                          <a:latin typeface="PingFang TC"/>
                          <a:ea typeface="PingFang TC"/>
                        </a:rPr>
                        <a:t>Auth</a:t>
                      </a:r>
                    </a:p>
                  </a:txBody>
                  <a:tcPr marT="25400" marB="25400" marL="1016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無（前端產 user_id）</a:t>
                      </a:r>
                    </a:p>
                  </a:txBody>
                  <a:tcPr marT="25400" marB="25400" marL="1016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Cognito JWT</a:t>
                      </a:r>
                    </a:p>
                  </a:txBody>
                  <a:tcPr marT="25400" marB="25400" marL="1016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AUTH_ENABLED</a:t>
                      </a:r>
                    </a:p>
                  </a:txBody>
                  <a:tcPr marT="25400" marB="25400" marL="101600" marR="762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6035040"/>
            <a:ext cx="11155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64748B"/>
                </a:solidFill>
                <a:latin typeface="PingFang TC"/>
                <a:ea typeface="PingFang TC"/>
              </a:rPr>
              <a:t>沿用 QR / Earthquake 的「工廠函式 + 延遲匯入」寫法：未設 env → 記憶體 / SQLite 實作；docker compose 走 Postgres + Redis Streams 的 production code path。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部署 · AWS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AWS 部署架構（Terraform，ap-northeast-1）+ CI/CD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463040"/>
            <a:ext cx="1463040" cy="731520"/>
          </a:xfrm>
          <a:prstGeom prst="roundRect">
            <a:avLst/>
          </a:prstGeom>
          <a:solidFill>
            <a:srgbClr val="64748B"/>
          </a:solidFill>
          <a:ln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PingFang TC"/>
                <a:ea typeface="PingFang TC"/>
              </a:rPr>
              <a:t>Client /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extension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103120" y="1463040"/>
            <a:ext cx="1554480" cy="731520"/>
          </a:xfrm>
          <a:prstGeom prst="roundRect">
            <a:avLst/>
          </a:prstGeom>
          <a:solidFill>
            <a:srgbClr val="7C3AED"/>
          </a:solidFill>
          <a:ln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PingFang TC"/>
                <a:ea typeface="PingFang TC"/>
              </a:rPr>
              <a:t>CloudFront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+ WAF per-IP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840480" y="1463040"/>
            <a:ext cx="1554480" cy="731520"/>
          </a:xfrm>
          <a:prstGeom prst="roundRect">
            <a:avLst/>
          </a:prstGeom>
          <a:solidFill>
            <a:srgbClr val="0EA5E9"/>
          </a:solidFill>
          <a:ln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PingFang TC"/>
                <a:ea typeface="PingFang TC"/>
              </a:rPr>
              <a:t>API Gateway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JWT · 節流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577840" y="1463040"/>
            <a:ext cx="1280160" cy="73152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PingFang TC"/>
                <a:ea typeface="PingFang TC"/>
              </a:rPr>
              <a:t>內部 ALB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/health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040880" y="1463040"/>
            <a:ext cx="1645920" cy="731520"/>
          </a:xfrm>
          <a:prstGeom prst="roundRect">
            <a:avLst/>
          </a:prstGeom>
          <a:solidFill>
            <a:srgbClr val="0F172A"/>
          </a:solidFill>
          <a:ln>
            <a:solidFill>
              <a:srgbClr val="0F17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PingFang TC"/>
                <a:ea typeface="PingFang TC"/>
              </a:rPr>
              <a:t>EC2 ASG (api)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Docker/gunicorn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840480" y="2377440"/>
            <a:ext cx="1554480" cy="54864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PingFang TC"/>
                <a:ea typeface="PingFang TC"/>
              </a:rPr>
              <a:t>Cognito (JWT)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920240" y="1828800"/>
            <a:ext cx="18288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3657600" y="1828800"/>
            <a:ext cx="18288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5394960" y="1828800"/>
            <a:ext cx="18288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6858000" y="1828800"/>
            <a:ext cx="18288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V="1">
            <a:off x="4617720" y="2194560"/>
            <a:ext cx="0" cy="182880"/>
          </a:xfrm>
          <a:prstGeom prst="line">
            <a:avLst/>
          </a:prstGeom>
          <a:ln w="12700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5440680" y="2148840"/>
            <a:ext cx="1097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64748B"/>
                </a:solidFill>
                <a:latin typeface="PingFang TC"/>
                <a:ea typeface="PingFang TC"/>
              </a:rPr>
              <a:t>VPC Link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52560" y="1371600"/>
            <a:ext cx="2651760" cy="64008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PingFang TC"/>
                <a:ea typeface="PingFang TC"/>
              </a:rPr>
              <a:t>RDS PostgreSQL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products · subscriptions · aggregations · outbox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052560" y="2103120"/>
            <a:ext cx="2651760" cy="64008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PingFang TC"/>
                <a:ea typeface="PingFang TC"/>
              </a:rPr>
              <a:t>DynamoDB prices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append-only · Streams NEW_IMAGE = CDC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052560" y="2834640"/>
            <a:ext cx="2651760" cy="640080"/>
          </a:xfrm>
          <a:prstGeom prst="roundRect">
            <a:avLst/>
          </a:prstGeom>
          <a:solidFill>
            <a:srgbClr val="DC2626"/>
          </a:solidFill>
          <a:ln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PingFang TC"/>
                <a:ea typeface="PingFang TC"/>
              </a:rPr>
              <a:t>ElastiCache Redis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Streams: crawl / price_changed / notify:*</a:t>
            </a:r>
          </a:p>
        </p:txBody>
      </p:sp>
      <p:cxnSp>
        <p:nvCxnSpPr>
          <p:cNvPr id="19" name="Connector 18"/>
          <p:cNvCxnSpPr/>
          <p:nvPr/>
        </p:nvCxnSpPr>
        <p:spPr>
          <a:xfrm flipV="1">
            <a:off x="8686800" y="1691640"/>
            <a:ext cx="365760" cy="137160"/>
          </a:xfrm>
          <a:prstGeom prst="line">
            <a:avLst/>
          </a:prstGeom>
          <a:ln w="15240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8686800" y="1828800"/>
            <a:ext cx="365760" cy="594360"/>
          </a:xfrm>
          <a:prstGeom prst="line">
            <a:avLst/>
          </a:prstGeom>
          <a:ln w="15240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8686800" y="1828800"/>
            <a:ext cx="365760" cy="1325880"/>
          </a:xfrm>
          <a:prstGeom prst="line">
            <a:avLst/>
          </a:prstGeom>
          <a:ln w="15240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2103120" y="3017520"/>
            <a:ext cx="4754880" cy="777240"/>
          </a:xfrm>
          <a:prstGeom prst="roundRect">
            <a:avLst/>
          </a:prstGeom>
          <a:solidFill>
            <a:srgbClr val="D97706"/>
          </a:solidFill>
          <a:ln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PingFang TC"/>
                <a:ea typeface="PingFang TC"/>
              </a:rPr>
              <a:t>EC2 ASG (worker)  ROLE=worker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crawler(→ amazon.com) · CDC tailer(DynamoDB Streams) · notify workers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040880" y="3017520"/>
            <a:ext cx="1645920" cy="77724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PingFang TC"/>
                <a:ea typeface="PingFang TC"/>
              </a:rPr>
              <a:t>SES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(email)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858000" y="3401568"/>
            <a:ext cx="182880" cy="0"/>
          </a:xfrm>
          <a:prstGeom prst="line">
            <a:avLst/>
          </a:prstGeom>
          <a:ln w="22225">
            <a:solidFill>
              <a:srgbClr val="0596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V="1">
            <a:off x="6858000" y="2423160"/>
            <a:ext cx="2194560" cy="777240"/>
          </a:xfrm>
          <a:prstGeom prst="line">
            <a:avLst/>
          </a:prstGeom>
          <a:ln w="12700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V="1">
            <a:off x="6858000" y="3154680"/>
            <a:ext cx="2194560" cy="457200"/>
          </a:xfrm>
          <a:prstGeom prst="line">
            <a:avLst/>
          </a:prstGeom>
          <a:ln w="12700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457200" y="393192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4748B"/>
                </a:solidFill>
                <a:latin typeface="PingFang TC"/>
                <a:ea typeface="PingFang TC"/>
              </a:rPr>
              <a:t>Cognito(JWT) · SSM(設定) · Secrets Manager(DB 密碼) · ECR(映像) · EventBridge + Lambda(cleanup) · CloudWatch/SNS(監控告警)。SSE 過 CloudFront/API GW 有 buffering → dev-only。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4434840"/>
            <a:ext cx="11155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0F172A"/>
                </a:solidFill>
                <a:latin typeface="PingFang TC"/>
                <a:ea typeface="PingFang TC"/>
              </a:rPr>
              <a:t>CI/CD（GitHub Actions，deploy-price.yml，workflow_dispatch 手動觸發）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4846320"/>
            <a:ext cx="1481328" cy="1097280"/>
          </a:xfrm>
          <a:prstGeom prst="roundRect">
            <a:avLst/>
          </a:prstGeom>
          <a:solidFill>
            <a:srgbClr val="64748B"/>
          </a:solidFill>
          <a:ln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PingFang TC"/>
                <a:ea typeface="PingFang TC"/>
              </a:rPr>
              <a:t>workflow_dispatch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手動觸發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(infra 尚未 apply)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1938528" y="5394960"/>
            <a:ext cx="118872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2057400" y="4846320"/>
            <a:ext cx="1481328" cy="1097280"/>
          </a:xfrm>
          <a:prstGeom prst="roundRect">
            <a:avLst/>
          </a:prstGeom>
          <a:solidFill>
            <a:srgbClr val="0EA5E9"/>
          </a:solidFill>
          <a:ln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PingFang TC"/>
                <a:ea typeface="PingFang TC"/>
              </a:rPr>
              <a:t>GitHub Actions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OIDC assume role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(無長期金鑰)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3538728" y="5394960"/>
            <a:ext cx="118872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3657600" y="4846320"/>
            <a:ext cx="1481328" cy="109728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PingFang TC"/>
                <a:ea typeface="PingFang TC"/>
              </a:rPr>
              <a:t>buildx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--platform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linux/arm64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5138928" y="5394960"/>
            <a:ext cx="118872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ounded Rectangle 34"/>
          <p:cNvSpPr/>
          <p:nvPr/>
        </p:nvSpPr>
        <p:spPr>
          <a:xfrm>
            <a:off x="5257800" y="4846320"/>
            <a:ext cx="1481328" cy="109728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PingFang TC"/>
                <a:ea typeface="PingFang TC"/>
              </a:rPr>
              <a:t>ECR push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tag = SHA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+ latest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6739128" y="5394960"/>
            <a:ext cx="118872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ounded Rectangle 36"/>
          <p:cNvSpPr/>
          <p:nvPr/>
        </p:nvSpPr>
        <p:spPr>
          <a:xfrm>
            <a:off x="6858000" y="4846320"/>
            <a:ext cx="1481328" cy="1097280"/>
          </a:xfrm>
          <a:prstGeom prst="roundRect">
            <a:avLst/>
          </a:prstGeom>
          <a:solidFill>
            <a:srgbClr val="7C3AED"/>
          </a:solidFill>
          <a:ln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PingFang TC"/>
                <a:ea typeface="PingFang TC"/>
              </a:rPr>
              <a:t>SSM 更新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/price/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IMAGE_URI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8339328" y="5394960"/>
            <a:ext cx="118872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ounded Rectangle 38"/>
          <p:cNvSpPr/>
          <p:nvPr/>
        </p:nvSpPr>
        <p:spPr>
          <a:xfrm>
            <a:off x="8458200" y="4846320"/>
            <a:ext cx="1481328" cy="1097280"/>
          </a:xfrm>
          <a:prstGeom prst="roundRect">
            <a:avLst/>
          </a:prstGeom>
          <a:solidFill>
            <a:srgbClr val="D97706"/>
          </a:solidFill>
          <a:ln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PingFang TC"/>
                <a:ea typeface="PingFang TC"/>
              </a:rPr>
              <a:t>SSM 部署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send-command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tag:app=price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9939528" y="5394960"/>
            <a:ext cx="118872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ounded Rectangle 40"/>
          <p:cNvSpPr/>
          <p:nvPr/>
        </p:nvSpPr>
        <p:spPr>
          <a:xfrm>
            <a:off x="10058400" y="4846320"/>
            <a:ext cx="1481328" cy="109728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PingFang TC"/>
                <a:ea typeface="PingFang TC"/>
              </a:rPr>
              <a:t>上線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deploy-app.sh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ALB /health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57200" y="6035040"/>
            <a:ext cx="11155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4748B"/>
                </a:solidFill>
                <a:latin typeface="PingFang TC"/>
                <a:ea typeface="PingFang TC"/>
              </a:rPr>
              <a:t>前置 repo variable AWS_DEPLOY_ROLE_ARN = terraform output gha_deploy_role_arn；terraform apply 會計費，不用時 destroy。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壓測 · 觀測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k6 壓測三場景 + 監控指標（附錄 K）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554480"/>
            <a:ext cx="5394960" cy="54864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>
                <a:solidFill>
                  <a:srgbClr val="FFFFFF"/>
                </a:solidFill>
                <a:latin typeface="PingFang TC"/>
                <a:ea typeface="PingFang TC"/>
              </a:rPr>
              <a:t>k6 壓測（loadtest/）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2194560"/>
          <a:ext cx="539496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1920240"/>
                <a:gridCol w="2286000"/>
              </a:tblGrid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場景</a:t>
                      </a:r>
                    </a:p>
                  </a:txBody>
                  <a:tcPr marT="25400" marB="25400" marL="101600" marR="762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路徑</a:t>
                      </a:r>
                    </a:p>
                  </a:txBody>
                  <a:tcPr marT="25400" marB="25400" marL="101600" marR="762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驗證</a:t>
                      </a:r>
                    </a:p>
                  </a:txBody>
                  <a:tcPr marT="25400" marB="25400" marL="101600" marR="76200" anchor="ctr">
                    <a:solidFill>
                      <a:srgbClr val="2563E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2563EB"/>
                          </a:solidFill>
                          <a:latin typeface="PingFang TC"/>
                          <a:ea typeface="PingFang TC"/>
                        </a:rPr>
                        <a:t>history</a:t>
                      </a:r>
                    </a:p>
                  </a:txBody>
                  <a:tcPr marT="25400" marB="25400" marL="1016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GET /price/{id}?period=</a:t>
                      </a:r>
                    </a:p>
                  </a:txBody>
                  <a:tcPr marT="25400" marB="25400" marL="1016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p95 &lt; 500ms（NFR）；aggregation vs raw_fallback</a:t>
                      </a:r>
                    </a:p>
                  </a:txBody>
                  <a:tcPr marT="25400" marB="25400" marL="101600" marR="762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2563EB"/>
                          </a:solidFill>
                          <a:latin typeface="PingFang TC"/>
                          <a:ea typeface="PingFang TC"/>
                        </a:rPr>
                        <a:t>report</a:t>
                      </a:r>
                    </a:p>
                  </a:txBody>
                  <a:tcPr marT="25400" marB="25400" marL="101600" marR="762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POST /price-reports</a:t>
                      </a:r>
                    </a:p>
                  </a:txBody>
                  <a:tcPr marT="25400" marB="25400" marL="101600" marR="762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extension 寫入路徑；限流 429、pending_verify 比例</a:t>
                      </a:r>
                    </a:p>
                  </a:txBody>
                  <a:tcPr marT="25400" marB="25400" marL="101600" marR="76200" anchor="ctr"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2563EB"/>
                          </a:solidFill>
                          <a:latin typeface="PingFang TC"/>
                          <a:ea typeface="PingFang TC"/>
                        </a:rPr>
                        <a:t>subscribe</a:t>
                      </a:r>
                    </a:p>
                  </a:txBody>
                  <a:tcPr marT="25400" marB="25400" marL="1016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POST /subscriptions</a:t>
                      </a:r>
                    </a:p>
                  </a:txBody>
                  <a:tcPr marT="25400" marB="25400" marL="1016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upsert 寫入；UNIQUE(product_id, user_id)</a:t>
                      </a:r>
                    </a:p>
                  </a:txBody>
                  <a:tcPr marT="25400" marB="25400" marL="101600" marR="762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6263640" y="1554480"/>
            <a:ext cx="5394960" cy="54864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>
                <a:solidFill>
                  <a:srgbClr val="FFFFFF"/>
                </a:solidFill>
                <a:latin typeface="PingFang TC"/>
                <a:ea typeface="PingFang TC"/>
              </a:rPr>
              <a:t>監控指標（app 層）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2194560"/>
            <a:ext cx="5394960" cy="182880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520" y="2286000"/>
            <a:ext cx="50292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200" b="0">
                <a:solidFill>
                  <a:srgbClr val="0F172A"/>
                </a:solidFill>
                <a:latin typeface="PingFang TC"/>
                <a:ea typeface="PingFang TC"/>
              </a:rPr>
              <a:t>•  CDC lag：checkpoint vs head（/cdc/status）、queue 深度</a:t>
            </a:r>
          </a:p>
          <a:p>
            <a:pPr>
              <a:spcAft>
                <a:spcPts val="500"/>
              </a:spcAft>
            </a:pPr>
            <a:r>
              <a:rPr sz="1200" b="0">
                <a:solidFill>
                  <a:srgbClr val="0F172A"/>
                </a:solidFill>
                <a:latin typeface="PingFang TC"/>
                <a:ea typeface="PingFang TC"/>
              </a:rPr>
              <a:t>•  crawl 成功率 / captcha 率 / region_locked 率 / 用了哪層 fetcher</a:t>
            </a:r>
          </a:p>
          <a:p>
            <a:pPr>
              <a:spcAft>
                <a:spcPts val="500"/>
              </a:spcAft>
            </a:pPr>
            <a:r>
              <a:rPr sz="1200" b="0">
                <a:solidFill>
                  <a:srgbClr val="0F172A"/>
                </a:solidFill>
                <a:latin typeface="PingFang TC"/>
                <a:ea typeface="PingFang TC"/>
              </a:rPr>
              <a:t>•  通知 p95 延遲：事件 ts → VENDOR_ACCEPTED（對 1 小時 SLA）</a:t>
            </a:r>
          </a:p>
          <a:p>
            <a:pPr>
              <a:spcAft>
                <a:spcPts val="500"/>
              </a:spcAft>
            </a:pPr>
            <a:r>
              <a:rPr sz="1200" b="0">
                <a:solidFill>
                  <a:srgbClr val="0F172A"/>
                </a:solidFill>
                <a:latin typeface="PingFang TC"/>
                <a:ea typeface="PingFang TC"/>
              </a:rPr>
              <a:t>•  raw_fallback 比例、/price latency_ms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4251960"/>
            <a:ext cx="11109960" cy="457200"/>
          </a:xfrm>
          <a:prstGeom prst="roundRect">
            <a:avLst/>
          </a:prstGeom>
          <a:solidFill>
            <a:srgbClr val="7C3AED"/>
          </a:solidFill>
          <a:ln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基礎設施層：CloudWatch alarms → SNS（ALB / RDS / Redis / DynamoDB / API GW / CloudFront）+ Synthetic canary 探 /health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892040"/>
            <a:ext cx="11155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0F172A"/>
                </a:solidFill>
                <a:latin typeface="PingFang TC"/>
                <a:ea typeface="PingFang TC"/>
              </a:rPr>
              <a:t>降級 / fail-soft（附錄 M）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5257800"/>
            <a:ext cx="111556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0F172A"/>
                </a:solidFill>
                <a:latin typeface="PingFang TC"/>
                <a:ea typeface="PingFang TC"/>
              </a:rPr>
              <a:t>•  crawler 被擋只影響該商品（退避 ×4），API 照常服務歷史；Redis 故障 → 事件停在 checkpoint 之後不會丟，tailer 重連後補發、冪等吸收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F172A"/>
                </a:solidFill>
                <a:latin typeface="PingFang TC"/>
                <a:ea typeface="PingFang TC"/>
              </a:rPr>
              <a:t>•  彙總 job 掛掉 → 讀路徑 raw fallback 仍可畫圖；全域例外處理（500 不洩漏、422 可讀）、Request ID、body 大小上限 413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F172A"/>
                </a:solidFill>
                <a:latin typeface="PingFang TC"/>
                <a:ea typeface="PingFang TC"/>
              </a:rPr>
              <a:t>•  Cleanup（附錄 L）：EventBridge + Lambda 每日清 outbox / crawl_log / 已結案 price_reports；prices / aggregations 是產品本身，不清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面試實戰 · FRAMEWORK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Design Amazon Price Tracking —— 45 分鐘怎麼講 + 常見扣分點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17320"/>
            <a:ext cx="109728" cy="658368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58368" y="1417320"/>
            <a:ext cx="10972800" cy="658368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508760"/>
            <a:ext cx="10607040" cy="5212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0F172A"/>
                </a:solidFill>
                <a:latin typeface="PingFang TC"/>
                <a:ea typeface="PingFang TC"/>
              </a:rPr>
              <a:t>0–5 min：需求釐清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64748B"/>
                </a:solidFill>
                <a:latin typeface="PingFang TC"/>
                <a:ea typeface="PingFang TC"/>
              </a:rPr>
              <a:t>只追 Amazon？要 extension 嗎？5 億商品、&lt; 500ms、1 小時通知 → 先算 5.8 天那條數學，說明盲爬為何不可行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167128"/>
            <a:ext cx="109728" cy="65836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58368" y="2167128"/>
            <a:ext cx="10972800" cy="658368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258568"/>
            <a:ext cx="10607040" cy="5212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0F172A"/>
                </a:solidFill>
                <a:latin typeface="PingFang TC"/>
                <a:ea typeface="PingFang TC"/>
              </a:rPr>
              <a:t>5–15 min：API + 資料模型 + High-Level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64748B"/>
                </a:solidFill>
                <a:latin typeface="PingFang TC"/>
                <a:ea typeface="PingFang TC"/>
              </a:rPr>
              <a:t>兩支 API、prices append-only（DynamoDB）+ subscriptions 索引 + 彙總表；畫出 crawler / CDC / aggregator 三條路徑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2916936"/>
            <a:ext cx="109728" cy="658368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58368" y="2916936"/>
            <a:ext cx="10972800" cy="658368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3008376"/>
            <a:ext cx="10607040" cy="5212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0F172A"/>
                </a:solidFill>
                <a:latin typeface="PingFang TC"/>
                <a:ea typeface="PingFang TC"/>
              </a:rPr>
              <a:t>15–35 min：三個深入（面試官挑 1–2 追問）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64748B"/>
                </a:solidFill>
                <a:latin typeface="PingFang TC"/>
                <a:ea typeface="PingFang TC"/>
              </a:rPr>
              <a:t>① 眾包 + 優先式爬取 + 完整性驗證｜② CDC → stream → worker（冪等 / cooldown）｜③ pre-aggregation + raw fallback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3666744"/>
            <a:ext cx="109728" cy="658368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58368" y="3666744"/>
            <a:ext cx="10972800" cy="658368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758184"/>
            <a:ext cx="10607040" cy="5212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0F172A"/>
                </a:solidFill>
                <a:latin typeface="PingFang TC"/>
                <a:ea typeface="PingFang TC"/>
              </a:rPr>
              <a:t>35–45 min：取捨與收尾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64748B"/>
                </a:solidFill>
                <a:latin typeface="PingFang TC"/>
                <a:ea typeface="PingFang TC"/>
              </a:rPr>
              <a:t>CDC vs dual-write、Redis vs Kafka、彙總新鮮度、反爬 / 合規；反問面試官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434840"/>
            <a:ext cx="11155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DC2626"/>
                </a:solidFill>
                <a:latin typeface="PingFang TC"/>
                <a:ea typeface="PingFang TC"/>
              </a:rPr>
              <a:t>常見扣分點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4846320"/>
            <a:ext cx="91440" cy="137160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40080" y="4846320"/>
            <a:ext cx="2057400" cy="137160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4919472"/>
            <a:ext cx="18745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>
                <a:solidFill>
                  <a:srgbClr val="0F172A"/>
                </a:solidFill>
                <a:latin typeface="PingFang TC"/>
                <a:ea typeface="PingFang TC"/>
              </a:rPr>
              <a:t>直接信使用者回報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64748B"/>
                </a:solidFill>
                <a:latin typeface="PingFang TC"/>
                <a:ea typeface="PingFang TC"/>
              </a:rPr>
              <a:t>extension 回報沒驗證就入庫 → 假通知；要說「可疑不入庫、先重爬」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98064" y="4846320"/>
            <a:ext cx="91440" cy="137160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2889504" y="4846320"/>
            <a:ext cx="2057400" cy="137160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980944" y="4919472"/>
            <a:ext cx="18745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>
                <a:solidFill>
                  <a:srgbClr val="0F172A"/>
                </a:solidFill>
                <a:latin typeface="PingFang TC"/>
                <a:ea typeface="PingFang TC"/>
              </a:rPr>
              <a:t>cron 掃表找變動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64748B"/>
                </a:solidFill>
                <a:latin typeface="PingFang TC"/>
                <a:ea typeface="PingFang TC"/>
              </a:rPr>
              <a:t>延遲吃 cron 頻率 + full scan；要說 event-driven / CDC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47488" y="4846320"/>
            <a:ext cx="91440" cy="137160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5138928" y="4846320"/>
            <a:ext cx="2057400" cy="137160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230368" y="4919472"/>
            <a:ext cx="18745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>
                <a:solidFill>
                  <a:srgbClr val="0F172A"/>
                </a:solidFill>
                <a:latin typeface="PingFang TC"/>
                <a:ea typeface="PingFang TC"/>
              </a:rPr>
              <a:t>raw 資料直接畫圖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64748B"/>
                </a:solidFill>
                <a:latin typeface="PingFang TC"/>
                <a:ea typeface="PingFang TC"/>
              </a:rPr>
              <a:t>17,520 列 date_trunc；要說 pre-aggregation + 粒度選擇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296912" y="4846320"/>
            <a:ext cx="91440" cy="137160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7388352" y="4846320"/>
            <a:ext cx="2057400" cy="137160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79792" y="4919472"/>
            <a:ext cx="18745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>
                <a:solidFill>
                  <a:srgbClr val="0F172A"/>
                </a:solidFill>
                <a:latin typeface="PingFang TC"/>
                <a:ea typeface="PingFang TC"/>
              </a:rPr>
              <a:t>dual-write 沒 outbox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64748B"/>
                </a:solidFill>
                <a:latin typeface="PingFang TC"/>
                <a:ea typeface="PingFang TC"/>
              </a:rPr>
              <a:t>DB 成功、事件失敗漏通知；at-least-once 又沒冪等會重送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546336" y="4846320"/>
            <a:ext cx="91440" cy="137160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9637776" y="4846320"/>
            <a:ext cx="2057400" cy="137160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729216" y="4919472"/>
            <a:ext cx="18745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>
                <a:solidFill>
                  <a:srgbClr val="0F172A"/>
                </a:solidFill>
                <a:latin typeface="PingFang TC"/>
                <a:ea typeface="PingFang TC"/>
              </a:rPr>
              <a:t>忽略反爬 / 合規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64748B"/>
                </a:solidFill>
                <a:latin typeface="PingFang TC"/>
                <a:ea typeface="PingFang TC"/>
              </a:rPr>
              <a:t>沒提 TLS 指紋、限速、region、ToS；沒算 5 億 × 1 rps 的可行性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附錄總覽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DESIGN.md 附錄 A–M 一頁列表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508760"/>
            <a:ext cx="457200" cy="54864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600" b="1">
                <a:solidFill>
                  <a:srgbClr val="FFFFFF"/>
                </a:solidFill>
                <a:latin typeface="PingFang TC"/>
                <a:ea typeface="PingFang TC"/>
              </a:rPr>
              <a:t>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1463040"/>
            <a:ext cx="4846320" cy="6949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1">
                <a:solidFill>
                  <a:srgbClr val="0F172A"/>
                </a:solidFill>
                <a:latin typeface="PingFang TC"/>
                <a:ea typeface="PingFang TC"/>
              </a:rPr>
              <a:t>CDC vs dual-write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64748B"/>
                </a:solidFill>
                <a:latin typeface="PingFang TC"/>
                <a:ea typeface="PingFang TC"/>
              </a:rPr>
              <a:t>一致性 / 順序 / 過濾 / 侵入性 / 延遲比較；本專案 CDC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203704"/>
            <a:ext cx="457200" cy="54864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600" b="1">
                <a:solidFill>
                  <a:srgbClr val="FFFFFF"/>
                </a:solidFill>
                <a:latin typeface="PingFang TC"/>
                <a:ea typeface="PingFang TC"/>
              </a:rPr>
              <a:t>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157984"/>
            <a:ext cx="4846320" cy="6949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1">
                <a:solidFill>
                  <a:srgbClr val="0F172A"/>
                </a:solidFill>
                <a:latin typeface="PingFang TC"/>
                <a:ea typeface="PingFang TC"/>
              </a:rPr>
              <a:t>DynamoDB Streams 機制與消費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64748B"/>
                </a:solidFill>
                <a:latin typeface="PingFang TC"/>
                <a:ea typeface="PingFang TC"/>
              </a:rPr>
              <a:t>shard 有序、iterator 迴圈；自己 tail / Lambda ESM / KCL；Redis Streams vs Kafka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898648"/>
            <a:ext cx="457200" cy="54864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600" b="1">
                <a:solidFill>
                  <a:srgbClr val="FFFFFF"/>
                </a:solidFill>
                <a:latin typeface="PingFang TC"/>
                <a:ea typeface="PingFang TC"/>
              </a:rPr>
              <a:t>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852928"/>
            <a:ext cx="4846320" cy="6949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1">
                <a:solidFill>
                  <a:srgbClr val="0F172A"/>
                </a:solidFill>
                <a:latin typeface="PingFang TC"/>
                <a:ea typeface="PingFang TC"/>
              </a:rPr>
              <a:t>優先式爬取：分數、衰減、升級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64748B"/>
                </a:solidFill>
                <a:latin typeface="PingFang TC"/>
                <a:ea typeface="PingFang TC"/>
              </a:rPr>
              <a:t>log1p 邊際遞減、age/interval 排序、captcha 退避；正式版 Redis ZSET + consumer group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593592"/>
            <a:ext cx="457200" cy="54864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600" b="1">
                <a:solidFill>
                  <a:srgbClr val="FFFFFF"/>
                </a:solidFill>
                <a:latin typeface="PingFang TC"/>
                <a:ea typeface="PingFang TC"/>
              </a:rPr>
              <a:t>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547872"/>
            <a:ext cx="4846320" cy="6949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1">
                <a:solidFill>
                  <a:srgbClr val="0F172A"/>
                </a:solidFill>
                <a:latin typeface="PingFang TC"/>
                <a:ea typeface="PingFang TC"/>
              </a:rPr>
              <a:t>完整性驗證流程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64748B"/>
                </a:solidFill>
                <a:latin typeface="PingFang TC"/>
                <a:ea typeface="PingFang TC"/>
              </a:rPr>
              <a:t>跌幅 &gt; 30% → pending_verify → 重爬 → ≤ 5% confirmed；惡意回報只多爬一次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288536"/>
            <a:ext cx="457200" cy="54864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600" b="1">
                <a:solidFill>
                  <a:srgbClr val="FFFFFF"/>
                </a:solidFill>
                <a:latin typeface="PingFang TC"/>
                <a:ea typeface="PingFang TC"/>
              </a:rPr>
              <a:t>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4242816"/>
            <a:ext cx="4846320" cy="6949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1">
                <a:solidFill>
                  <a:srgbClr val="0F172A"/>
                </a:solidFill>
                <a:latin typeface="PingFang TC"/>
                <a:ea typeface="PingFang TC"/>
              </a:rPr>
              <a:t>Amazon 反爬實測筆記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64748B"/>
                </a:solidFill>
                <a:latin typeface="PingFang TC"/>
                <a:ea typeface="PingFang TC"/>
              </a:rPr>
              <a:t>TLS 指紋、chrome124 攔截頁、幣別 cookie、主價格區塊、region_locked、Playwright、ToS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983480"/>
            <a:ext cx="457200" cy="54864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600" b="1">
                <a:solidFill>
                  <a:srgbClr val="FFFFFF"/>
                </a:solidFill>
                <a:latin typeface="PingFang TC"/>
                <a:ea typeface="PingFang TC"/>
              </a:rPr>
              <a:t>F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4937760"/>
            <a:ext cx="4846320" cy="6949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1">
                <a:solidFill>
                  <a:srgbClr val="0F172A"/>
                </a:solidFill>
                <a:latin typeface="PingFang TC"/>
                <a:ea typeface="PingFang TC"/>
              </a:rPr>
              <a:t>彙總粒度與 OLAP 替代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64748B"/>
                </a:solidFill>
                <a:latin typeface="PingFang TC"/>
                <a:ea typeface="PingFang TC"/>
              </a:rPr>
              <a:t>period → 粒度 → 列數表；新鮮度；ClickHouse / InfluxDB 走 CDC 多接 consumer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5678424"/>
            <a:ext cx="457200" cy="54864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600" b="1">
                <a:solidFill>
                  <a:srgbClr val="FFFFFF"/>
                </a:solidFill>
                <a:latin typeface="PingFang TC"/>
                <a:ea typeface="PingFang TC"/>
              </a:rPr>
              <a:t>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5632704"/>
            <a:ext cx="4846320" cy="6949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1">
                <a:solidFill>
                  <a:srgbClr val="0F172A"/>
                </a:solidFill>
                <a:latin typeface="PingFang TC"/>
                <a:ea typeface="PingFang TC"/>
              </a:rPr>
              <a:t>冪等、cooldown 與回升重設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64748B"/>
                </a:solidFill>
                <a:latin typeface="PingFang TC"/>
                <a:ea typeface="PingFang TC"/>
              </a:rPr>
              <a:t>notification_id = hash(sub|seq)；$120 → $118 才再通知；回到門檻上重設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7920" y="1508760"/>
            <a:ext cx="457200" cy="54864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600" b="1">
                <a:solidFill>
                  <a:srgbClr val="FFFFFF"/>
                </a:solidFill>
                <a:latin typeface="PingFang TC"/>
                <a:ea typeface="PingFang TC"/>
              </a:rPr>
              <a:t>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66560" y="1463040"/>
            <a:ext cx="4846320" cy="6949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1">
                <a:solidFill>
                  <a:srgbClr val="0F172A"/>
                </a:solidFill>
                <a:latin typeface="PingFang TC"/>
                <a:ea typeface="PingFang TC"/>
              </a:rPr>
              <a:t>SSE dev-only vs SES email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64748B"/>
                </a:solidFill>
                <a:latin typeface="PingFang TC"/>
                <a:ea typeface="PingFang TC"/>
              </a:rPr>
              <a:t>SSE 過 CDN 有 buffering；SES 需驗證身分、bounce/complaint 回饋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17920" y="2203704"/>
            <a:ext cx="457200" cy="54864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600" b="1">
                <a:solidFill>
                  <a:srgbClr val="FFFFFF"/>
                </a:solidFill>
                <a:latin typeface="PingFang TC"/>
                <a:ea typeface="PingFang TC"/>
              </a:rPr>
              <a:t>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66560" y="2157984"/>
            <a:ext cx="4846320" cy="6949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1">
                <a:solidFill>
                  <a:srgbClr val="0F172A"/>
                </a:solidFill>
                <a:latin typeface="PingFang TC"/>
                <a:ea typeface="PingFang TC"/>
              </a:rPr>
              <a:t>Auth 與匿名回報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64748B"/>
                </a:solidFill>
                <a:latin typeface="PingFang TC"/>
                <a:ea typeface="PingFang TC"/>
              </a:rPr>
              <a:t>Cognito JWT env-gated；extension 回報只帶 reporter_token，不記瀏覽紀錄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17920" y="2898648"/>
            <a:ext cx="457200" cy="54864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600" b="1">
                <a:solidFill>
                  <a:srgbClr val="FFFFFF"/>
                </a:solidFill>
                <a:latin typeface="PingFang TC"/>
                <a:ea typeface="PingFang TC"/>
              </a:rPr>
              <a:t>J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66560" y="2852928"/>
            <a:ext cx="4846320" cy="6949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1">
                <a:solidFill>
                  <a:srgbClr val="0F172A"/>
                </a:solidFill>
                <a:latin typeface="PingFang TC"/>
                <a:ea typeface="PingFang TC"/>
              </a:rPr>
              <a:t>Rate limiting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64748B"/>
                </a:solidFill>
                <a:latin typeface="PingFang TC"/>
                <a:ea typeface="PingFang TC"/>
              </a:rPr>
              <a:t>WAF per-IP、API GW 節流、reporter_token 每分鐘 30 次、出站 CRAWL_RPS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17920" y="3593592"/>
            <a:ext cx="457200" cy="54864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600" b="1">
                <a:solidFill>
                  <a:srgbClr val="FFFFFF"/>
                </a:solidFill>
                <a:latin typeface="PingFang TC"/>
                <a:ea typeface="PingFang TC"/>
              </a:rPr>
              <a:t>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66560" y="3547872"/>
            <a:ext cx="4846320" cy="6949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1">
                <a:solidFill>
                  <a:srgbClr val="0F172A"/>
                </a:solidFill>
                <a:latin typeface="PingFang TC"/>
                <a:ea typeface="PingFang TC"/>
              </a:rPr>
              <a:t>Monitoring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64748B"/>
                </a:solidFill>
                <a:latin typeface="PingFang TC"/>
                <a:ea typeface="PingFang TC"/>
              </a:rPr>
              <a:t>CloudWatch → SNS、canary；CDC lag、captcha 率、通知 p95、queue 深度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17920" y="4288536"/>
            <a:ext cx="457200" cy="54864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600" b="1">
                <a:solidFill>
                  <a:srgbClr val="FFFFFF"/>
                </a:solidFill>
                <a:latin typeface="PingFang TC"/>
                <a:ea typeface="PingFang TC"/>
              </a:rPr>
              <a:t>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66560" y="4242816"/>
            <a:ext cx="4846320" cy="6949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1">
                <a:solidFill>
                  <a:srgbClr val="0F172A"/>
                </a:solidFill>
                <a:latin typeface="PingFang TC"/>
                <a:ea typeface="PingFang TC"/>
              </a:rPr>
              <a:t>Cleanup cron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64748B"/>
                </a:solidFill>
                <a:latin typeface="PingFang TC"/>
                <a:ea typeface="PingFang TC"/>
              </a:rPr>
              <a:t>EventBridge + Lambda 每日清 outbox / crawl_log / 結案回報；prices 不清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17920" y="4983480"/>
            <a:ext cx="457200" cy="54864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600" b="1">
                <a:solidFill>
                  <a:srgbClr val="FFFFFF"/>
                </a:solidFill>
                <a:latin typeface="PingFang TC"/>
                <a:ea typeface="PingFang TC"/>
              </a:rPr>
              <a:t>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766560" y="4937760"/>
            <a:ext cx="4846320" cy="6949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1">
                <a:solidFill>
                  <a:srgbClr val="0F172A"/>
                </a:solidFill>
                <a:latin typeface="PingFang TC"/>
                <a:ea typeface="PingFang TC"/>
              </a:rPr>
              <a:t>Error handling / 降級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64748B"/>
                </a:solidFill>
                <a:latin typeface="PingFang TC"/>
                <a:ea typeface="PingFang TC"/>
              </a:rPr>
              <a:t>500 不洩漏、422 可讀、Request ID、413；crawler / Redis / 彙總各自 fail-soft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