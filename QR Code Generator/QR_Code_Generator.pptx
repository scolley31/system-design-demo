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828800"/>
            <a:ext cx="1371600" cy="137160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5400" b="1">
                <a:solidFill>
                  <a:srgbClr val="FFFFFF"/>
                </a:solidFill>
                <a:latin typeface="PingFang TC"/>
                <a:ea typeface="PingFang TC"/>
              </a:rPr>
              <a:t>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383280"/>
            <a:ext cx="1051560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PingFang TC"/>
                <a:ea typeface="PingFang TC"/>
              </a:rPr>
              <a:t>QR Code Generator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CBD5E1"/>
                </a:solidFill>
                <a:latin typeface="PingFang TC"/>
                <a:ea typeface="PingFang TC"/>
              </a:rPr>
              <a:t>System Design — 架構、API 與設計決策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Dynamic QR · FastAPI 原型 · 對齊 PDF 設計題 + repo 練習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01 · REQUIREMENTS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需求與規模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45920"/>
            <a:ext cx="3566160" cy="54864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功能性 (FR)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86000"/>
            <a:ext cx="3566160" cy="402336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3200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提交 URL → 回 token + QR 圖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掃描短碼 → 302 導向原始 URL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可改目標 URL / 軟刪 / 設過期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掃描分析（總數、每日）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URL 驗證：正規化 + 惡意阻擋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645920"/>
            <a:ext cx="3566160" cy="54864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非功能性 (NFR)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2286000"/>
            <a:ext cx="3566160" cy="402336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2468880"/>
            <a:ext cx="3200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24/7 高可用 (HA)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Redirect 延遲 &lt; 100ms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10 億 QR、1 億用戶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讀多寫少 ≈ 100:1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1645920"/>
            <a:ext cx="3566160" cy="54864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容量估算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2286000"/>
            <a:ext cx="3566160" cy="402336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2468880"/>
            <a:ext cx="3200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1B × ~200B ≈ 200GB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≈ 5,800 redirect / 秒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1 億用戶 × 5 次/日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圖片 + redirect 為主流量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02 · API DESIGN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API 設計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54480"/>
          <a:ext cx="1106424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657600"/>
                <a:gridCol w="6126480"/>
              </a:tblGrid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方法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路徑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說明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管理頁前端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POST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/api/v1/qr/create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建立 → {token, short_url, qr_code_url, original_url}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/r/{token}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掃描入口：302 / 404(不存在) / 410(刪除·過期)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列出所有 QR（含掃描數，管理頁）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/api/v1/qr/{token}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取得 metadata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PATCH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/api/v1/qr/{token}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改 url / expires_at（部分更新）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DELETE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/api/v1/qr/{token}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軟刪除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/api/v1/qr/{token}/image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QR PNG（dimension·color·border）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/api/v1/qr/{token}/analytics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掃描統計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03 · DATA MODEL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資料模型（時間一律存 UTC）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45920"/>
            <a:ext cx="5394960" cy="5029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url_mappings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40280"/>
            <a:ext cx="5394960" cy="36576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49377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id  (PK)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token  String(8)  UNIQUE · index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original_url  Text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created_at / updated_at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expires_at  (nullable)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is_deleted  Boolean  ← 軟刪除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645920"/>
            <a:ext cx="5394960" cy="50292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scan_events  (分析明細)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2240280"/>
            <a:ext cx="5394960" cy="36576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423160"/>
            <a:ext cx="49377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id (PK) · token · scanned_at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user_agent · ip_address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index (token, scanned_at)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正式版 → 獨立分析庫 + 預聚合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daily_counts(token, date, count)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03b · DB SCHEMA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資料庫 Schema (DDL) · schema.sql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532120" cy="32004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76200" tIns="101600"/>
          <a:lstStyle/>
          <a:p>
            <a:pPr algn="ctr"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CREATE TABLE url_mappings (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id            INTEGER  PRIMARY KEY,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token         VARCHAR(8)   NOT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original_url  TEXT     NOT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created_at    DATETIME NOT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updated_at    DATETIME NOT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expires_at    DATETIME    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is_deleted    BOOLEAN  NOT NULL DEFAULT 0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);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CREATE UNIQUE INDEX ix_url_mappings_token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ON url_mappings (token);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600200"/>
            <a:ext cx="5349240" cy="32004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76200" tIns="101600"/>
          <a:lstStyle/>
          <a:p>
            <a:pPr algn="ctr"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CREATE TABLE scan_events (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id          INTEGER  PRIMARY KEY,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token       VARCHAR(8)   NOT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scanned_at  DATETIME NOT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user_agent  VARCHAR(500)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ip_address  VARCHAR(45)  NULL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);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CREATE INDEX idx_token_scanned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ON scan_events (token, scanned_at);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83480"/>
            <a:ext cx="112471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token：8 碼 Base62；UNIQUE 索引兼碰撞安全網（第 5 題）+ redirect O(log n) 查找（第 2 題）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is_deleted 軟刪除（第 12 題）· expires_at 惰性過期（第 13 題）· 時間一律存 UTC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scan_events：分析明細 + 複合索引；正式版改獨立分析庫 + 預聚合（第 14 題）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04 · HIGH-LEVEL ARCHITECTURE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高階架構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103120"/>
            <a:ext cx="1645920" cy="86868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Client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掃描者/瀏覽器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651760" y="2103120"/>
            <a:ext cx="1645920" cy="86868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API Gateway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54880" y="2103120"/>
            <a:ext cx="2194560" cy="86868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QR Service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(stateless, 水平擴展)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194560" y="2532888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297680" y="2532888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863840" y="1371600"/>
            <a:ext cx="3749039" cy="73152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Redis  快取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(redirect 熱路徑, TTL)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0" y="2286000"/>
            <a:ext cx="3749039" cy="82296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Primary DB → Read Replicas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(寫走主 · 讀走副 · failover)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63840" y="3246120"/>
            <a:ext cx="3749039" cy="73152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Object Store + CDN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(QR 圖片靜態內容)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63840" y="4069080"/>
            <a:ext cx="3749039" cy="73152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佇列 → 分析庫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(非同步 scan · 預聚合)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6949440" y="1737360"/>
            <a:ext cx="914400" cy="795528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949440" y="2532888"/>
            <a:ext cx="914400" cy="164592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949440" y="2532888"/>
            <a:ext cx="914400" cy="1078992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949440" y="2532888"/>
            <a:ext cx="914400" cy="1901952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54864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讀多寫少：redirect 先打 Redis，miss 才到 DB（read replica）；QR 圖片走 CDN；scan 非同步進分析庫。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決策地圖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三大關鍵架構決策（環環相扣）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920240"/>
            <a:ext cx="3566160" cy="54864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>
                <a:solidFill>
                  <a:srgbClr val="FFFFFF"/>
                </a:solidFill>
                <a:latin typeface="PingFang TC"/>
                <a:ea typeface="PingFang TC"/>
              </a:rPr>
              <a:t>① 動態 vs 靜態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542032"/>
            <a:ext cx="3566160" cy="5029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選：動態 QR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127248"/>
            <a:ext cx="3566160" cy="246888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273552"/>
            <a:ext cx="3200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QR 編 short URL → server redirect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可修改目標 + 可追蹤掃描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代價：server = SPOF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→ 逼出 cache / CDN / monitoring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023360" y="2194560"/>
            <a:ext cx="27432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297680" y="1920240"/>
            <a:ext cx="3566160" cy="54864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>
                <a:solidFill>
                  <a:srgbClr val="FFFFFF"/>
                </a:solidFill>
                <a:latin typeface="PingFang TC"/>
                <a:ea typeface="PingFang TC"/>
              </a:rPr>
              <a:t>② Token 生成策略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2542032"/>
            <a:ext cx="3566160" cy="5029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SHA-256+nonce+Base62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3127248"/>
            <a:ext cx="3566160" cy="246888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0" y="3273552"/>
            <a:ext cx="3200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隨機（碰撞靠運氣）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→ 純 hash（同 URL 同 token）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→ +nonce（確定性重試 + DB 兜底）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高流量可換 Pre-gen Pool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863840" y="2194560"/>
            <a:ext cx="27432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138160" y="1920240"/>
            <a:ext cx="3566160" cy="54864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>
                <a:solidFill>
                  <a:srgbClr val="FFFFFF"/>
                </a:solidFill>
                <a:latin typeface="PingFang TC"/>
                <a:ea typeface="PingFang TC"/>
              </a:rPr>
              <a:t>③ 301 vs 302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2542032"/>
            <a:ext cx="3566160" cy="5029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選：302（暫時）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3127248"/>
            <a:ext cx="3566160" cy="246888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3273552"/>
            <a:ext cx="3200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301 永久快取 → 跳過 server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→ 分析流失、改不了目標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302 每次回源 → 可改/刪/分析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代價：latency → cache + CDN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80644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①決定要 server、②決定短碼怎麼來、③決定 redirect 怎麼回 —— 三者串成主架構，其下才是 16 項實作決策。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05 · CREATE FLOW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建立流程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468880"/>
            <a:ext cx="1691640" cy="137160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① 驗證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保守正規化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+ 惡意/SSRF 檢查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194560" y="3154680"/>
            <a:ext cx="16459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359152" y="2468880"/>
            <a:ext cx="1691640" cy="137160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② 生 token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SHA-256+nonce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→Base62→8 碼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050792" y="3154680"/>
            <a:ext cx="16459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215384" y="2468880"/>
            <a:ext cx="1691640" cy="137160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③ 寫 DB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直接插入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UNIQUE 重試 ≤10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07024" y="3154680"/>
            <a:ext cx="16459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071616" y="2468880"/>
            <a:ext cx="1691640" cy="137160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④ 暖 cache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token→URL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寫進 Redis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63256" y="3154680"/>
            <a:ext cx="16459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927848" y="2468880"/>
            <a:ext cx="1691640" cy="137160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⑤ 生圖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預生成 QR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→ object store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619488" y="3154680"/>
            <a:ext cx="16459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784080" y="2468880"/>
            <a:ext cx="1691640" cy="137160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⑥ 回應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token / short_url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/ qr_code_url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29768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PingFang TC"/>
                <a:ea typeface="PingFang TC"/>
              </a:rPr>
              <a:t>關鍵：第 ③ 步「直接插入 + UNIQUE 例外重試」取代 repo 的「先查再插」，消除高並發 race。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token 碰撞在大規模下必然發生，靠 DB UNIQUE + 重試兜底（nonce 只防『同 URL 同 token』，不防碰撞）。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06 · REDIRECT FLOW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掃描 / Redirect 流程（&lt; 100ms 關鍵路徑）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2103120" cy="73152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GET /r/{token}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掃描者瀏覽器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17520" y="1554480"/>
            <a:ext cx="2377440" cy="73152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① 查 Cache (Redis)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651760" y="1920240"/>
            <a:ext cx="3657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3017520" y="2651760"/>
            <a:ext cx="2377440" cy="6400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命中 + 未過期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1554480"/>
            <a:ext cx="2468880" cy="7315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② miss → 查 DB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(read replica)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394960" y="1920240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686800" y="1234440"/>
            <a:ext cx="3017520" cy="64008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找不到  →  404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8321040" y="1554480"/>
            <a:ext cx="365760" cy="36576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686800" y="2057400"/>
            <a:ext cx="3017520" cy="64008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is_deleted  →  410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321040" y="1920240"/>
            <a:ext cx="365760" cy="45720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686800" y="2880360"/>
            <a:ext cx="3017520" cy="64008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已過期  →  410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321040" y="1920240"/>
            <a:ext cx="365760" cy="128016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686800" y="3703320"/>
            <a:ext cx="3017520" cy="6400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正常  →  ③ 回填 cache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321040" y="1920240"/>
            <a:ext cx="365760" cy="210312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3017520" y="4480560"/>
            <a:ext cx="5303520" cy="73152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④ 排程非同步記 scan (BackgroundTasks) → 不擋跳轉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017520" y="5394960"/>
            <a:ext cx="530352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⑤ 回 302  Location: 原始 URL  → 瀏覽器自動跟隨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206240" y="3291840"/>
            <a:ext cx="0" cy="1188720"/>
          </a:xfrm>
          <a:prstGeom prst="line">
            <a:avLst/>
          </a:prstGeom>
          <a:ln w="22225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8321040" y="4343400"/>
            <a:ext cx="1828800" cy="502920"/>
          </a:xfrm>
          <a:prstGeom prst="line">
            <a:avLst/>
          </a:prstGeom>
          <a:ln w="1524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06b · LATENCY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redirect &lt; 100ms — 兩層查找 + 索引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74519"/>
            <a:ext cx="2194560" cy="82296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掃描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GET /r/{token}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0" y="1874519"/>
            <a:ext cx="3063240" cy="82296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① Cache (Redis)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O(1) · &lt;1ms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743200" y="2286000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3200400" y="2971800"/>
            <a:ext cx="3063240" cy="7315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命中 → 302 ✅ 不碰 DB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727448" y="2697480"/>
            <a:ext cx="0" cy="274320"/>
          </a:xfrm>
          <a:prstGeom prst="line">
            <a:avLst/>
          </a:prstGeom>
          <a:ln w="1524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6720840" y="1874519"/>
            <a:ext cx="4937760" cy="82296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② miss → SELECT WHERE token=?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走 ix_url_mappings_token · O(log n)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263640" y="2286000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720840" y="2971800"/>
            <a:ext cx="493776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回填 cache → 302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189720" y="2697480"/>
            <a:ext cx="0" cy="27432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48640" y="4114800"/>
            <a:ext cx="112471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索引對比（查 1 個 token、10 億筆）：無索引 = 全表掃描 O(n)，數秒；有索引 = B-tree O(log n)，次毫秒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scan 記錄非同步（BackgroundTasks），不算進這條延遲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三道防線：cache 擋多數讀（第 7 題）+ token 索引讓 miss 也快（第 2 題）+ scan 非同步不擋路（第 8 題）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正式版再加 read replica 分攤 ~5,800 QPS（第 16 題）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07 · QR IMAGE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取 QR 圖片流程  ·  GET /api/v1/qr/{token}/image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194560"/>
            <a:ext cx="1737360" cy="137160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① 驗證 token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找不到/已軟刪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404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194560" y="2880360"/>
            <a:ext cx="128016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322576" y="2194560"/>
            <a:ext cx="1737360" cy="137160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② 組短碼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short_url =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BASE_URL+"/r/{token}"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059936" y="2880360"/>
            <a:ext cx="128016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187952" y="2194560"/>
            <a:ext cx="1737360" cy="137160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③④ 算矩陣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編碼→糾錯(RS)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→2D 模組矩陣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25312" y="2880360"/>
            <a:ext cx="128016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053328" y="2194560"/>
            <a:ext cx="1737360" cy="137160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⑤ 算像素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每模組→方塊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border=quiet zone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90688" y="2880360"/>
            <a:ext cx="128016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918704" y="2194560"/>
            <a:ext cx="1737360" cy="137160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⑥⑦ PNG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BytesIO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選填 dimension 縮放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656064" y="2880360"/>
            <a:ext cx="128016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784080" y="2194560"/>
            <a:ext cx="1737360" cy="137160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⑧ 串流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StreamingResponse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image/png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023360"/>
            <a:ext cx="1115568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0F172A"/>
                </a:solidFill>
                <a:latin typeface="PingFang TC"/>
                <a:ea typeface="PingFang TC"/>
              </a:rPr>
              <a:t>⚠ 編進 QR 的是『不變的短碼 /r/{token}』，不是原始 URL —— dynamic QR 關鍵：改目標 URL 不需重生圖。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QR 原理：字串 → byte 編碼 → Reed-Solomon 糾錯（破損仍可掃）→ 排入矩陣（finder/timing/alignment + 遮罩）。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圖片是靜態內容 → 原型即時生成；正式版預生成存 object store + CDN（第 15 題）。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樣式參數：dimension（像素邊長）· color（hex 黑塊色）· border（quiet zone 模組數）。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07b · QR IMAGE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圖片存哪 — BLOB-in-DB vs Object Store（第 15 題）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關鍵性質:QR 編的是不變短碼 /r/{token} → 圖是靜態內容,一次算好即可純讀;經典取捨:二進位大物該不該進 DB?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057400"/>
          <a:ext cx="11109959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3977639"/>
                <a:gridCol w="4389120"/>
              </a:tblGrid>
              <a:tr h="5486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方案</a:t>
                      </a:r>
                    </a:p>
                  </a:txBody>
                  <a:tcPr marT="38100" marB="381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優</a:t>
                      </a:r>
                    </a:p>
                  </a:txBody>
                  <a:tcPr marT="38100" marB="381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劣</a:t>
                      </a:r>
                    </a:p>
                  </a:txBody>
                  <a:tcPr marT="38100" marB="38100" marL="101600" anchor="ctr">
                    <a:solidFill>
                      <a:srgbClr val="2563E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即時生成（原型）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零儲存、URL 改圖自動對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每次吃 CPU,高 QPS → app 變算圖機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存 DB（BLOB 欄位）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一致性簡單、一個 store、有交易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PNG 撐大表、吃 buffer pool/備份/複寫;DB 難放 CDN 後 → 貴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Object Store + CDN（採用）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水平無限、單價低、邊緣快取最低延遲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多一個 store、最終一致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4526280"/>
            <a:ext cx="11109960" cy="91440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通則:DB 只存指標(object key / URL),bytes 放 object store —— DB 的價值在交易/索引/查詢,不是當檔案伺服器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62356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為何不進 DB:圖只會被整包讀、不查內容 → 佔 buffer pool + 備份/複寫頻寬,且 DB 擋不住 CDN 前的流量</a:t>
            </a:r>
          </a:p>
          <a:p>
            <a:pPr lvl="1"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PingFang TC"/>
                <a:ea typeface="PingFang TC"/>
              </a:rPr>
              <a:t>–  例外:小圖 + 低量 + 想少一個元件 → BLOB-in-DB 偶爾划算。樣式(dimension/color/border)不同視為不同圖,以 (token,樣式) 為 key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08 · DEEP DIVE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決策 1 — Token 生成與碰撞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演算法：SHA-256(url + nonce) → Base62 → 取前 8 碼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nonce = 時間戳_重試次數，打破 SHA-256 的確定性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作用：讓同一個 URL 每次也產生不同 token（第 4 題：不去重）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⚠ nonce 只解決『確定性』，不解決『碰撞』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碰撞數學：截斷成 8 碼後空間 = 62^8 ≈ 2.18×10^14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10 億規模下碰撞『必然』發生（預期 ~2,290 次）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7 碼 → 8 碼：空間 ×62、預期碰撞降到 1/62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安全網：DB token UNIQUE + 直接插入例外重試（≤10）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每筆插入碰撞率 ~0.0005%，重試幾乎都第 2 次成功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08b · TOKEN INTERNALS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Token 實作 — Hash → Encode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057400"/>
            <a:ext cx="1737360" cy="118872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url + nonce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字串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194560" y="265176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313432" y="2057400"/>
            <a:ext cx="1737360" cy="118872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.encode()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bytes (UTF-8)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050792" y="265176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169664" y="2057400"/>
            <a:ext cx="1737360" cy="11887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sha256().digest()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32 bytes 指紋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07024" y="265176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025896" y="2057400"/>
            <a:ext cx="1737360" cy="11887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int.from_bytes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256-bit 大整數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63256" y="265176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882128" y="2057400"/>
            <a:ext cx="1737360" cy="118872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base62 ÷62 取餘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~43 字元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619488" y="265176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738360" y="2057400"/>
            <a:ext cx="1737360" cy="118872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[:8]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token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611880"/>
            <a:ext cx="111556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Hash（攪亂）：sha256(...).digest() 壓成固定 32 bytes 指紋 — 確定性·雪崩·單向（.hexdigest() 則回 64 字元 hex）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Encode（變短碼）：大整數不斷 ÷62 記餘數 → 餘數 0–61 對映 0-9a-zA-Z；reversed 因餘數從最低位算起</a:t>
            </a:r>
          </a:p>
          <a:p>
            <a:pPr lvl="1">
              <a:spcAft>
                <a:spcPts val="7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–  選 Base62 而非 Base64：不含 / + = → URL 安全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截斷：62^43 ≈ 2^256，取前 8 碼 → 空間砍到 62^8（碰撞源於此）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⚠ 兩個 encode：(url+nonce).encode() 是文字→bytes；base62_encode() 是 bytes→文字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範例：3842 → 餘60='Y'、餘61='Z' → reversed → "ZY"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08c · TOKEN 策略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Token 生成策略比較（演進路徑）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00200"/>
          <a:ext cx="1110996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600200"/>
                <a:gridCol w="1600200"/>
                <a:gridCol w="1600200"/>
                <a:gridCol w="3017520"/>
              </a:tblGrid>
              <a:tr h="47026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策略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簡單度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唯一性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可預測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適用場景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Auto-increment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高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高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高（危險）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內部系統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隨機字串 / UUID 截短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中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中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低流量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純 hash(URL)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中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✗ 同 URL 同 token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SHA-256+nonce+Base62</a:t>
                      </a:r>
                    </a:p>
                  </a:txBody>
                  <a:tcPr marT="25400" marB="25400" marL="101600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中</a:t>
                      </a:r>
                    </a:p>
                  </a:txBody>
                  <a:tcPr marT="25400" marB="25400" marL="101600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高</a:t>
                      </a:r>
                    </a:p>
                  </a:txBody>
                  <a:tcPr marT="25400" marB="25400" marL="101600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</a:t>
                      </a:r>
                    </a:p>
                  </a:txBody>
                  <a:tcPr marT="25400" marB="25400" marL="101600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通用方案 ← 採用</a:t>
                      </a:r>
                    </a:p>
                  </a:txBody>
                  <a:tcPr marT="25400" marB="25400" marL="101600" anchor="ctr">
                    <a:solidFill>
                      <a:srgbClr val="DBEAFE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Pre-generated Pool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高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高流量 · 零碰撞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7026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Snowflake-like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高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中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分散式系統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12064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演進：隨機（碰撞靠運氣）→ 純 hash（同 URL 同 token、無法獨立追蹤）→ SHA-256+nonce（換 nonce 確定性重試 + DB 兜底）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進階：Pre-generated Pool（寫入零碰撞，適合超高寫入）· Snowflake-like（分散式本地生成）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我們選 SHA-256+nonce 為通用方案；寫入流量再上去可換 Pre-generated Pool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09 · DEEP DIVE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決策 2 — 302、快取、非同步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302 而非 301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301 被瀏覽器快取 → 跳過我方 server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→ 無法改/刪/統計；故選 302 每次回源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Cache：Redis（非行程內 dict）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stateless 多台共享 + 全域 invalidation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行程內 dict 會讓 PATCH/DELETE 失效漏清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含 TTL 作最終一致性保險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73736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Scan 非同步寫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redirect 是 &lt;100ms + ~5,800 QPS 熱路徑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分析可容忍延遲/少量遺失 → 不擋跳轉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原型 BackgroundTasks；正式版佇列+worker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token index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避免全表掃描，redirect 直接命中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附錄 · CACHE 策略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四種 Cache 策略 — 讀寫怎麼走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1556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心法:cache 本質是 replication。兩個問題決定策略 →（1）誰是 master（DB 還是 cache）（2）複製是同步還是非同步。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策略沒有絕對對錯,看 write/read ratio、persistency、consistency 選最適合的。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331720"/>
          <a:ext cx="1110996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46120"/>
                <a:gridCol w="3840480"/>
                <a:gridCol w="2011680"/>
              </a:tblGrid>
              <a:tr h="58521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策略</a:t>
                      </a:r>
                    </a:p>
                  </a:txBody>
                  <a:tcPr marT="38100" marB="381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讀（read）</a:t>
                      </a:r>
                    </a:p>
                  </a:txBody>
                  <a:tcPr marT="38100" marB="381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寫（write）</a:t>
                      </a:r>
                    </a:p>
                  </a:txBody>
                  <a:tcPr marT="38100" marB="381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master / 複製</a:t>
                      </a:r>
                    </a:p>
                  </a:txBody>
                  <a:tcPr marT="38100" marB="38100" marL="101600" anchor="ctr">
                    <a:solidFill>
                      <a:srgbClr val="2563EB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Cache Aside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先查 cache,miss → 讀 DB → 回填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直接寫 DB（app 自己管 cache）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DB / 惰性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Read Through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只跟 cache 要,cache 自己回源 DB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直接寫 DB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DB / 惰性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Write Through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直接讀 cache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同時寫 cache + DB,兩者成功才算完成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同步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Write Back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直接讀 cache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先寫 cache,再非同步刷回 DB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cache / 非同步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349240"/>
            <a:ext cx="111556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Cache Aside / Read Through:master 是 DB、寫只進 DB → cache 惰性補;差別只在「誰負責回源」(app vs cache 元件)。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使用時機:模型不同/後補/部分控制/自寫降級 → Cache Aside(app 回源,本專案);想藏回源、應用變薄、有原生 read-through 產品(如 DAX) → Read Through(cache 回源)。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Write Through / Write Back:寫會碰 cache;差別在對 DB 是同步(慢但不丟) 還是非同步(快但可能丟)。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附錄 · CACHE 策略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優缺點・適用・本專案落點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54480"/>
          <a:ext cx="111099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383280"/>
                <a:gridCol w="3337560"/>
                <a:gridCol w="2377440"/>
              </a:tblGrid>
              <a:tr h="5486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策略</a:t>
                      </a:r>
                    </a:p>
                  </a:txBody>
                  <a:tcPr marT="38100" marB="381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優點</a:t>
                      </a:r>
                    </a:p>
                  </a:txBody>
                  <a:tcPr marT="38100" marB="381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缺點</a:t>
                      </a:r>
                    </a:p>
                  </a:txBody>
                  <a:tcPr marT="38100" marB="381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適用</a:t>
                      </a:r>
                    </a:p>
                  </a:txBody>
                  <a:tcPr marT="38100" marB="38100" marL="101600" anchor="ctr">
                    <a:solidFill>
                      <a:srgbClr val="2563E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Cache Aside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資料不丟;最易實作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首讀 cache miss;可能不一致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讀多、可靠優先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Read Through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程式碼簡潔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同 Cache Aside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讀多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Write Through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無 cache miss(讀恆新)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寫入延遲增加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讀寫都要新鮮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Write Back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無 miss;抗寫入重;減 DB 負荷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未刷回前可能丟資料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寫入重、可容忍丟失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48640" y="4617720"/>
            <a:ext cx="11109960" cy="91440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本專案 redirect:讀走 Cache Aside(miss 回填)、改/刪時 write-around=invalidate(見下一頁 09b)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71500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為何是 Cache Aside 家族:read-heavy(302 遠多於寫)+ 連結/分析不能丟 → 不選 Write Back(未刷回可能丟);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PingFang TC"/>
                <a:ea typeface="PingFang TC"/>
              </a:rPr>
              <a:t>不選 Write Through(多數 QR 從沒被掃,寫時全塞 cache 白佔記憶體)。TTL 兜底最終一致。 來源:homuchen.com/posts/databse-chache-strategies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09b · DEEP DIVE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Cache 寫策略 — 讀 cache-aside，寫 write-around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83080"/>
            <a:ext cx="2286000" cy="6400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redirect 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63240" y="1783080"/>
            <a:ext cx="4114800" cy="64008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miss → 查 DB → 回填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0" y="1783080"/>
            <a:ext cx="4206240" cy="64008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059669"/>
                </a:solidFill>
                <a:latin typeface="PingFang TC"/>
                <a:ea typeface="PingFang TC"/>
              </a:rPr>
              <a:t>cache-aside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606040"/>
            <a:ext cx="2286000" cy="64008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create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63240" y="2606040"/>
            <a:ext cx="4114800" cy="64008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寫 DB → 順手 set（暖）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2606040"/>
            <a:ext cx="4206240" cy="64008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2563EB"/>
                </a:solidFill>
                <a:latin typeface="PingFang TC"/>
                <a:ea typeface="PingFang TC"/>
              </a:rPr>
              <a:t>write-through（小優化）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429000"/>
            <a:ext cx="2286000" cy="64008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update / delete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063240" y="3429000"/>
            <a:ext cx="4114800" cy="64008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寫 DB →（commit 後）delete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0" y="3429000"/>
            <a:ext cx="4206240" cy="64008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DC2626"/>
                </a:solidFill>
                <a:latin typeface="PingFang TC"/>
                <a:ea typeface="PingFang TC"/>
              </a:rPr>
              <a:t>write-around / invalidate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80560"/>
            <a:ext cx="108813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為何寫時 invalidate 而非 write-through：</a:t>
            </a:r>
          </a:p>
          <a:p>
            <a:pPr lvl="1">
              <a:spcAft>
                <a:spcPts val="7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–  read-heavy 且非每筆會被讀 → write-through 白佔記憶體、擠掉熱門 token；write-around 只快取真正被讀的工作集</a:t>
            </a:r>
          </a:p>
          <a:p>
            <a:pPr lvl="1">
              <a:spcAft>
                <a:spcPts val="7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–  一致性更單純：update 直接刪 cache、下次讀從 DB 重建；順序 commit → 再 invalidate，避免 stale 回填 race</a:t>
            </a:r>
          </a:p>
          <a:p>
            <a:pPr lvl="1">
              <a:spcAft>
                <a:spcPts val="7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–  TTL 兜底最終一致；scan 分析寫入是非同步、不進此 cache（附錄 J）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何時反選 write-through：寫完馬上一定會讀（read-your-write 高頻，如 session）；redirect 建立與被掃無強時間關聯 → write-around 勝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09c · DEEP DIVE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若選 write-through：cache 寫要不要 block？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子取捨:client 的寫入要不要「等 cache 寫完才回」?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874519"/>
          <a:ext cx="1110996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4892040"/>
                <a:gridCol w="4663440"/>
              </a:tblGrid>
              <a:tr h="53035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維度</a:t>
                      </a:r>
                    </a:p>
                  </a:txBody>
                  <a:tcPr marT="38100" marB="381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阻塞式（cache 寫在 critical path）</a:t>
                      </a:r>
                    </a:p>
                  </a:txBody>
                  <a:tcPr marT="38100" marB="381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非阻塞式（DB commit 後背景更新）</a:t>
                      </a:r>
                    </a:p>
                  </a:txBody>
                  <a:tcPr marT="38100" marB="38100" marL="101600" anchor="ctr">
                    <a:solidFill>
                      <a:srgbClr val="2563EB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寫延遲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DB + cache 兩趟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≈ 只有 DB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一致性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強 read-after-write（下一讀保證新）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commit→更新之間有 stale 窗口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cache 故障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cache 慢/掛 → 寫跟著慢/失敗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不影響寫入成功（stale 到 TTL）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主要坑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partial failure：DB 已 commit 但 cache 寫失敗 → 難處理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並發亂序：更新亂序落地 → 停舊值,需 versioning/CAS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70916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另兩個一起想:① 先寫誰 → DB-first（source of truth）再寫 cache（cache-first 若 DB 失敗留幻影值）,但必有 commit→cache 空窗;② 並發互蓋 → cache 最終值取決於「誰最後寫 cache」非「誰最後 commit」→ 需版本號/CAS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5715000"/>
            <a:ext cx="11109960" cy="77724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∴ 本專案選 invalidate:delete 冪等、對順序不敏感、無部分值不一致 → 繞開「block 與否 + partial failure + 並發互蓋」三個麻煩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10 · DEEP DIVE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決策 3 — 可靠性與資料語意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軟刪除（is_deleted）：支撐 410 語意、保留分析、避免 token 回收風險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錯誤語意：404（從未存在） vs 410（曾存在已刪/過期）</a:t>
            </a:r>
          </a:p>
          <a:p>
            <a:pPr lvl="1">
              <a:spcAft>
                <a:spcPts val="9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掃描路徑刪除回 410；管理 API 已刪回 404（刻意差異）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惰性過期 + cron 兜底：掃描即時檢查過期；cron 清過期/通知未點擊/物理清理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URL 保守正規化：只 lower-case host，保留 path/query 與原 scheme</a:t>
            </a:r>
          </a:p>
          <a:p>
            <a:pPr lvl="1">
              <a:spcAft>
                <a:spcPts val="9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修正 repo 的整串小寫（破壞 path）+ 強制 https（導向失效站）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惡意阻擋：黑名單 + SSRF/內網位址（localhost·127.*·私網），正式版接 Safe Browsing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11 · SCALING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擴展策略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App server stateless → 增加 instance 水平擴展（cache 外置 Redis）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DB：單 primary + 多 read replica（讀走副）+ primary 掛 failover 升主</a:t>
            </a:r>
          </a:p>
          <a:p>
            <a:pPr lvl="1">
              <a:spcAft>
                <a:spcPts val="9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複寫延遲：create 後暖 cache 緩解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分片：以 token hash 為鍵（均勻），列為未來選項（200GB 目前單機足夠）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QR 圖片：object store + CDN（靜態內容，目標 URL 改不需重生圖）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分析：佇列 → 獨立分析庫 + 預聚合每日計數表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清理 cron：清過期 / 通知後刪長期未點擊 / 物理清理超期軟刪 + invalidate cache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11b · READ REPLICA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Read-heavy → 讀寫分離 + Read Replica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4864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容量：1B × 200B = 200GB（單機放得下）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讀流量：1 億 users × 5/日 = 5 億 redirects/日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2563EB"/>
                </a:solidFill>
                <a:latin typeface="PingFang TC"/>
                <a:ea typeface="PingFang TC"/>
              </a:rPr>
              <a:t>            5 億 ÷ 86,400s ≈ 5,787 redirects/秒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讀寫比：≈ 100:1（讀 ≫ 寫）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→ 瓶頸是「讀吞吐」、不是容量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059669"/>
                </a:solidFill>
                <a:latin typeface="PingFang TC"/>
                <a:ea typeface="PingFang TC"/>
              </a:rPr>
              <a:t>→ 讀寫分離 + 多個 read replica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0" y="2286000"/>
            <a:ext cx="1645920" cy="91440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App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(stateless)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95360" y="1737360"/>
            <a:ext cx="3017520" cy="7315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Primary (Write)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95360" y="2697480"/>
            <a:ext cx="3017520" cy="59436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Read Replica 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95360" y="3429000"/>
            <a:ext cx="3017520" cy="59436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Read Replica 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95360" y="4160520"/>
            <a:ext cx="3017520" cy="59436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Read Replica N</a:t>
            </a:r>
          </a:p>
        </p:txBody>
      </p:sp>
      <p:cxnSp>
        <p:nvCxnSpPr>
          <p:cNvPr id="10" name="Connector 9"/>
          <p:cNvCxnSpPr/>
          <p:nvPr/>
        </p:nvCxnSpPr>
        <p:spPr>
          <a:xfrm flipV="1">
            <a:off x="7772400" y="2103120"/>
            <a:ext cx="822960" cy="457200"/>
          </a:xfrm>
          <a:prstGeom prst="line">
            <a:avLst/>
          </a:prstGeom>
          <a:ln w="20320">
            <a:solidFill>
              <a:srgbClr val="DC26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772400" y="2880360"/>
            <a:ext cx="822960" cy="109728"/>
          </a:xfrm>
          <a:prstGeom prst="line">
            <a:avLst/>
          </a:prstGeom>
          <a:ln w="1778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772400" y="3017520"/>
            <a:ext cx="822960" cy="704088"/>
          </a:xfrm>
          <a:prstGeom prst="line">
            <a:avLst/>
          </a:prstGeom>
          <a:ln w="1778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772400" y="3108960"/>
            <a:ext cx="822960" cy="1344168"/>
          </a:xfrm>
          <a:prstGeom prst="line">
            <a:avLst/>
          </a:prstGeom>
          <a:ln w="1778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635240" y="205740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C2626"/>
                </a:solidFill>
                <a:latin typeface="PingFang TC"/>
                <a:ea typeface="PingFang TC"/>
              </a:rPr>
              <a:t>寫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0" y="320040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59669"/>
                </a:solidFill>
                <a:latin typeface="PingFang TC"/>
                <a:ea typeface="PingFang TC"/>
              </a:rPr>
              <a:t>讀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104120" y="2468880"/>
            <a:ext cx="0" cy="228600"/>
          </a:xfrm>
          <a:prstGeom prst="line">
            <a:avLst/>
          </a:prstGeom>
          <a:ln w="1397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0241280" y="2395728"/>
            <a:ext cx="1463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PingFang TC"/>
                <a:ea typeface="PingFang TC"/>
              </a:rPr>
              <a:t>非同步複寫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029200"/>
            <a:ext cx="112471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寫走 primary、讀走 replica（load-balanced）；讀不夠就加 replica 水平擴讀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配合 Redis cache，真正打到 DB 的讀已先被擋掉一大半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failover：primary 掛 → 升一台 read replica 為新 primary；複寫延遲靠 create 後暖 cache 緩解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12 · IMPROVEMENTS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對參考 repo 的關鍵改良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691640"/>
            <a:ext cx="64008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800" b="1">
                <a:solidFill>
                  <a:srgbClr val="FFFFFF"/>
                </a:solidFill>
                <a:latin typeface="PingFang TC"/>
                <a:ea typeface="PingFang TC"/>
              </a:rPr>
              <a:t>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417320" y="1691640"/>
            <a:ext cx="10149840" cy="73152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45920" y="1764792"/>
            <a:ext cx="9784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先查再插 → 直接插入 + UNIQUE 例外重試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消除高並發 race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606040"/>
            <a:ext cx="64008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800" b="1">
                <a:solidFill>
                  <a:srgbClr val="FFFFFF"/>
                </a:solidFill>
                <a:latin typeface="PingFang TC"/>
                <a:ea typeface="PingFang TC"/>
              </a:rPr>
              <a:t>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17320" y="2606040"/>
            <a:ext cx="10149840" cy="73152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45920" y="2679192"/>
            <a:ext cx="9784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行程內 dict cache → Redis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stateless 一致性（invalidation 全域生效）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520440"/>
            <a:ext cx="64008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800" b="1">
                <a:solidFill>
                  <a:srgbClr val="FFFFFF"/>
                </a:solidFill>
                <a:latin typeface="PingFang TC"/>
                <a:ea typeface="PingFang TC"/>
              </a:rPr>
              <a:t>③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17320" y="3520440"/>
            <a:ext cx="10149840" cy="73152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45920" y="3593592"/>
            <a:ext cx="9784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同步寫 scan → 非同步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不擋 redirect 關鍵路徑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434840"/>
            <a:ext cx="64008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800" b="1">
                <a:solidFill>
                  <a:srgbClr val="FFFFFF"/>
                </a:solidFill>
                <a:latin typeface="PingFang TC"/>
                <a:ea typeface="PingFang TC"/>
              </a:rPr>
              <a:t>④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417320" y="4434840"/>
            <a:ext cx="10149840" cy="73152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45920" y="4507992"/>
            <a:ext cx="9784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整串小寫 → 保守正規化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避免破壞 path 大小寫 / 導向失效站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349240"/>
            <a:ext cx="64008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800" b="1">
                <a:solidFill>
                  <a:srgbClr val="FFFFFF"/>
                </a:solidFill>
                <a:latin typeface="PingFang TC"/>
                <a:ea typeface="PingFang TC"/>
              </a:rPr>
              <a:t>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17320" y="5349240"/>
            <a:ext cx="10149840" cy="73152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45920" y="5422392"/>
            <a:ext cx="9784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token 7 碼 → 8 碼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碰撞預期 ×1/62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附錄 · NOSQL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替代方案 — DynamoDB 風格 key 設計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08760"/>
            <a:ext cx="5486400" cy="54864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直覺方案  PK=user_id · SK=created_at#qr_token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03120"/>
            <a:ext cx="5486400" cy="173736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240280"/>
            <a:ext cx="51206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✅ 列出我的 QR：Query PK=user_id 天生最佳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❌ redirect 只有 token、沒 user_id → 定位不到分區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–  → 退化成 Scan O(n)，違反 &lt;100ms（致命）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508760"/>
            <a:ext cx="5394960" cy="54864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建議  base PK=qr_token + GSI(user_id, created_at)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2103120"/>
            <a:ext cx="5394960" cy="173736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2240280"/>
            <a:ext cx="50292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✅ redirect：GetItem(PK=qr_token) O(1)、強一致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✅ 列我的 QR：走 GSI(PK=user_id)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qr_token 高亂度 → 均勻分區，避免 hot partition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唯一性：條件寫入 attribute_not_exists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4114800"/>
          <a:ext cx="1110996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88920"/>
                <a:gridCol w="2788920"/>
                <a:gridCol w="2788920"/>
              </a:tblGrid>
              <a:tr h="4800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存取模式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SQL（現況）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NoSQL PK=user_id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NoSQL PK=qr_token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redirect 查 token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B-tree O(log n) ✅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Scan O(n) ❌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GetItem O(1) ✅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列出我的 QR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WHERE user_id ✅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天生最佳 ✅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GSI 查 ✅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token 唯一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UNIQUE ✅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需額外處理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條件寫入 ✅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48640" y="6172200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NoSQL 先列存取模式、再決定 key；redirect（token→URL）是這個系統的第一公民。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附錄 · CDN EDGE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CDN 邊緣 redirect 變體（可選最佳化）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主設計選擇不快取 redirect（回源保即時改/刪 + 分析）。302 與 CDN 無因果——302 仍可設短 TTL 讓 CDN 快取；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真正取捨是「快取 redirect vs 即時性/分析」。本變體：熱門 token 的 302 設短 TTL、邊緣直接跳，換更低延遲。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11680"/>
            <a:ext cx="2011680" cy="86868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掃描者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GET /r/{token}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17520" y="1920240"/>
            <a:ext cx="3291840" cy="105156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CDN Edge（近使用者）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edge cache: token→URL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短 TTL（例 60s）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60320" y="2423160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017520" y="3337560"/>
            <a:ext cx="3291840" cy="77724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命中 → CDN 直接回 302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不回源 · 最低延遲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663440" y="2971800"/>
            <a:ext cx="0" cy="365760"/>
          </a:xfrm>
          <a:prstGeom prst="line">
            <a:avLst/>
          </a:prstGeom>
          <a:ln w="1651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675120" y="2057400"/>
            <a:ext cx="4937760" cy="8686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miss → 回源 Service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Cache/DB → 回 302（CDN 記短 TTL）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309360" y="2423160"/>
            <a:ext cx="3657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48640" y="4343400"/>
          <a:ext cx="111099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160520"/>
                <a:gridCol w="4206240"/>
              </a:tblGrid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面向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主設計（回源 + Redis）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CDN 邊緣變體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延遲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低（回源 + Redis）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最低（邊緣直接跳）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改 / 刪即時性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立即生效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TTL 內延遲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掃描分析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每次都記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TTL 內漏記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548640" y="626364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預設不採用；列為超高流量、目標穩定的熱門 QR 之可選最佳化（短 TTL 控制誤差）。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附錄 · PROD GAP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從 Prototype 到 Production 的落差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動態 QR 把 server 變成 SPOF → caching + CDN + monitoring 不是加分項，是必要代價。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965960"/>
          <a:ext cx="1110996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3840480"/>
                <a:gridCol w="4343400"/>
              </a:tblGrid>
              <a:tr h="52251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面向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原型現況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Production 需要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Error handling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✅ 已實作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全域處理 + 降級 + request id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Rate limiting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✅ 已實作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WAF per-IP + API GW 節流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Auth &amp; 多租戶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✅ 已實作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Cognito + JWT + owner_id 隔離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Monitoring / Alerting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✅ 已實作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CloudWatch alarms→SNS + Logs + canary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Data cleanup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✅ 已實作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EventBridge + Lambda 定時清理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52251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Caching / CDN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記憶體 + 即時生圖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Redis + object store + CDN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80644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rate limiting · auth/多租戶 · monitoring 是目前完全沒談、production 前必補的三塊。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部署 · AWS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AWS 部署架構（Terraform，已上線）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468880"/>
            <a:ext cx="1554480" cy="77724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Client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40280" y="2468880"/>
            <a:ext cx="1828800" cy="77724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CloudFront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(CDN + WAF)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40280" y="1417320"/>
            <a:ext cx="1828800" cy="64008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S3 (QR PNG)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/qr-img/*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2468880"/>
            <a:ext cx="1828800" cy="77724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API Gateway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(JWT auth · 節流)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417320"/>
            <a:ext cx="1828800" cy="6400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Cognito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(user pool)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5212080" y="2057400"/>
            <a:ext cx="0" cy="41148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355080" y="2468880"/>
            <a:ext cx="1463040" cy="77724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內部 ALB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/health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2468880"/>
            <a:ext cx="1920240" cy="868680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EC2 ASG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Docker/gunicorn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3611880"/>
            <a:ext cx="1920240" cy="6400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RDS PostgreSQL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4389120"/>
            <a:ext cx="1920240" cy="64008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ElastiCache Redis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011680" y="2852928"/>
            <a:ext cx="2286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3154680" y="2057400"/>
            <a:ext cx="0" cy="41148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069080" y="2852928"/>
            <a:ext cx="2286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126480" y="2852928"/>
            <a:ext cx="2286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818120" y="2852928"/>
            <a:ext cx="2286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006840" y="3337560"/>
            <a:ext cx="0" cy="27432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006840" y="4251960"/>
            <a:ext cx="0" cy="13716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297680" y="3310128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PingFang TC"/>
                <a:ea typeface="PingFang TC"/>
              </a:rPr>
              <a:t>VPC Link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212080"/>
            <a:ext cx="112471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WAF(per-IP rate limit)掛在 CloudFront 邊緣;/qr-img/* → S3 長快取;/, /r/*, /api/* → API Gateway,redirect 不快取。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設定/密鑰:SSM Parameter Store(DATABASE_URL/REDIS_URL/S3_BUCKET/CDN_BASE/BASE_URL/IMAGE_URI)·Secrets Manager(DB 密碼)·ECR·NAT Gateway。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安全 · RATE LIMITING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兩層限流 — Application Layer vs Infrastructure Layer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情境:有人用 script 一秒打你 10 萬次,怎麼擋?兩層各有所長,production 通常縱深並用。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874519"/>
          <a:ext cx="1110996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4572000"/>
                <a:gridCol w="4617720"/>
              </a:tblGrid>
              <a:tr h="5943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維度</a:t>
                      </a:r>
                    </a:p>
                  </a:txBody>
                  <a:tcPr marT="38100" marB="381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Application Layer</a:t>
                      </a:r>
                    </a:p>
                  </a:txBody>
                  <a:tcPr marT="38100" marB="381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Infrastructure Layer</a:t>
                      </a:r>
                    </a:p>
                  </a:txBody>
                  <a:tcPr marT="38100" marB="38100" marL="101600" anchor="ctr">
                    <a:solidFill>
                      <a:srgbClr val="2563E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常見手段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token bucket / sliding window、per-API-key quota、回 429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CDN + WAF（擋 L3–L7 DDoS）、LB connection limit、API Gateway throttling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跑在哪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你的 server code（middleware、sidecar）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CDN edge、WAF、LB、API Gateway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看得到的資訊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業務 context（user ID、訂閱 tier、資源所有權、業務狀態）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HTTP 通用內容（IP、headers、URL、body bytes），不解業務語意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拒絕成本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高（已花 TCP+TLS+server CPU）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低（在 edge 丟掉，不耗 origin）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粒度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細（per user、per endpoint、per resource）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粗（per IP、per region、per connection）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5623560"/>
            <a:ext cx="11109960" cy="91440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本專案目前只做 Infrastructure Layer（WAF per-IP + API GW 節流）—— 擋匿名洪水最划算;per-user/tier 的業務限流（App Layer）列為後續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安全 · RATE LIMITING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本專案實作：WAF per-IP + API Gateway 節流（Infra 層縱深）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828800"/>
            <a:ext cx="1645920" cy="82296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掃描者 / Script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23160" y="1828800"/>
            <a:ext cx="2286000" cy="82296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WAF (per-IP)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超量 → 403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74920" y="1828800"/>
            <a:ext cx="1737360" cy="82296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CloudFront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78040" y="1828800"/>
            <a:ext cx="2468880" cy="82296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API GW 整體節流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超量 → 429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12680" y="1828800"/>
            <a:ext cx="1691640" cy="82296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ALB → EC2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103120" y="2240280"/>
            <a:ext cx="32004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709160" y="2240280"/>
            <a:ext cx="3657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812280" y="2240280"/>
            <a:ext cx="3657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9646920" y="2240280"/>
            <a:ext cx="3657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48640" y="3017520"/>
          <a:ext cx="111099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3794760"/>
                <a:gridCol w="1828800"/>
              </a:tblGrid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層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機制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上限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超量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CloudFront WAF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per-IP · /api/*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300 / 5 分 / IP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403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CloudFront WAF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per-IP · 全域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2000 / 5 分 / IP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403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API Gateway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整體 throttle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1000 req/s · burst 2000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429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548640" y="507492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為何不能只靠 API GW:HTTP API 內建節流是『整體』非 per-IP、也無 API key → 擋單一 IP 濫用必須靠 WAF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限速值皆 Terraform 變數可調;WAF 阻擋數進 CloudWatch（BlockedRequests）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純 infra 變更,不動 app;已 validate/plan 通過(未 apply)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安全 · AUTH &amp; 多租戶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Cognito + API GW JWT authorizer + owner_id 隔離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828800"/>
            <a:ext cx="2011680" cy="82296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前端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(管理頁)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0" y="1828800"/>
            <a:ext cx="2377440" cy="82296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Cognito Hosted UI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登入(PKCE)→ id token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40680" y="1828800"/>
            <a:ext cx="2560320" cy="82296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API GW JWT authorizer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未帶/無效 → 401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21040" y="1828800"/>
            <a:ext cx="3108960" cy="82296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EC2:取 sub=owner_id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依 owner 過濾/授權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68880" y="2240280"/>
            <a:ext cx="27432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120640" y="2240280"/>
            <a:ext cx="32004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001000" y="2240280"/>
            <a:ext cx="32004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3108960"/>
          <a:ext cx="1110996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5806440"/>
                <a:gridCol w="3840480"/>
              </a:tblGrid>
              <a:tr h="5181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/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需登入 (JWT)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公開 (無 auth)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端點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create / list / get / patch / delete / analytics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/r/{token} 掃描 · QR 圖 · /health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隔離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owner_id = Cognito sub;非擁有者一律 404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redirect/圖不分 owner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48640" y="493776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前端用 id token(帶 aud+email);API GW authorizer 在邊緣擋未授權,app 再取 sub 當 owner_id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env-gated:本機不設 AUTH_ENABLED → dev user『local-dev』、免登入,SQLite 照跑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純 env 開關 + 新 infra(Cognito/authorizer),已 validate/plan 通過(未 apply)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可靠性 · DATA CLEANUP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定時清理:EventBridge + Lambda（防 DB bloat）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920240"/>
            <a:ext cx="2743200" cy="86868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EventBridge Scheduler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每日 03:00 UTC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0" y="1920240"/>
            <a:ext cx="2743200" cy="86868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Lambda (VPC)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pg8000 純 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66560" y="1920240"/>
            <a:ext cx="2377440" cy="8686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RDS PostgreSQL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DELETE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291840" y="2350008"/>
            <a:ext cx="3657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400800" y="2350008"/>
            <a:ext cx="3657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3200400"/>
          <a:ext cx="1110996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6446520"/>
                <a:gridCol w="2286000"/>
              </a:tblGrid>
              <a:tr h="4343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清理目標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條件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預設保留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過期 QR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expires_at &lt; now - grace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30 天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軟刪除超期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is_deleted 且 updated_at &lt; now - retention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30 天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連帶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上述 token 的 scan_events 一併刪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—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5120640"/>
            <a:ext cx="11247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單一來源:cleanup.py(SQLAlchemy+text SQL)Lambda 與本機共用;Lambda 用純 Python pg8000 免二進位打包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與 app 實例解耦(不用 app 內排程,免多實例重複跑/leader election);保留天數皆 Terraform 變數可調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可靠性 · MONITORING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CloudWatch alarms → SNS + Logs + Dashboard + Canary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2926080" cy="82296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CloudWatch Alarms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ALB/RDS/EC2/API GW/Lambda/CF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931920" y="1828800"/>
            <a:ext cx="2377440" cy="82296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SNS topic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Email 通知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66560" y="1828800"/>
            <a:ext cx="2377440" cy="82296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Synthetic Canary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每 5 分 /health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474720" y="2240280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6309360" y="2240280"/>
            <a:ext cx="457200" cy="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3017520"/>
          <a:ext cx="1110996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9098280"/>
              </a:tblGrid>
              <a:tr h="4419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面向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內容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告警 alarms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ALB unhealthy/5xx/latency · RDS CPU/storage · ElastiCache · API GW 5xx · Lambda errors · CloudFront 5xx(us-east-1)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通知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CloudWatch alarm → SNS topic → email（alert_email,需點確認信）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App logs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EC2 容器 awslogs driver → CloudWatch Logs /qrcode/app（retention 14d）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Dashboard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qrcode-overview：ALB/RDS/EC2/API GW/Lambda 一頁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Canary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syn-nodejs-puppeteer 每 5 分探測 CloudFront /health → 失敗即 alarm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58521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解決『服務掛了沒人知道』;canary 是端到端外部探測(連 CloudFront/整鏈路掛掉都測得到)。純 infra,已 validate/plan 通過(未 apply)。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可靠性 · ERROR HANDLING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壞輸入/依賴故障都優雅回應、不洩漏、可追蹤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828800"/>
          <a:ext cx="1110996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8915400"/>
              </a:tblGrid>
              <a:tr h="49377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面向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做法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全域處理器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未捕捉例外 → 500 不洩漏 + 記 traceback;422 驗證轉可讀字串(沿用 {detail})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依賴降級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Redis 故障 → redirect 走 DB(不 500);S3 失敗 → create fallback /image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Request ID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所有回應帶 X-Request-ID + 進日誌/錯誤 body(對應 CloudWatch Logs)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輸入健全化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body &gt; 64KB → 413;malformed JSON → 422;URL 長度 2048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48056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錯誤格式沿用 {"detail"} → 相容前端;500 只回通用訊息 + request_id,traceback 僅進日誌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依賴降級讓「Redis/S3 掛掉」不再連帶整個請求 500;分析寫入失敗也只記 log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本機驗證:422/413/500(含 X-Request-ID)+ REDIS_URL 不可達時 redirect 仍 302。純 app,不動 infra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部署 · CI/CD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CI/CD 流程（GitHub Actions + OIDC）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286000"/>
            <a:ext cx="1481328" cy="128016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git push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QR Code Generator/**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938528" y="292608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057400" y="2286000"/>
            <a:ext cx="1481328" cy="128016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GitHub Actions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OIDC assume role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(無長期金鑰)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38728" y="292608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657600" y="2286000"/>
            <a:ext cx="1481328" cy="128016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buildx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--platform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linux/arm64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138928" y="292608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257800" y="2286000"/>
            <a:ext cx="1481328" cy="128016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ECR push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tag = SHA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+ latest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739128" y="292608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858000" y="2286000"/>
            <a:ext cx="1481328" cy="128016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SSM 更新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/qrcode/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IMAGE_URI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339328" y="292608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458200" y="2286000"/>
            <a:ext cx="1481328" cy="128016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SSM 部署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→ EC2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deploy-app.sh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939528" y="292608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10058400" y="2286000"/>
            <a:ext cx="1481328" cy="128016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上線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ALB /health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通過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023360"/>
            <a:ext cx="112471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EC2 deploy-app.sh:從 SSM 撈設定 → ECR login → docker pull → docker run(換新容器)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全 env-gated:本機無這些環境變數 → 維持 SQLite + 記憶體 cache + 即時生圖,不受影響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部署踩到的兩個坑:① EC2 role 少 s3:PutObject(500)② CI build amd64 但 EC2 arm64(502)→ buildx 跨平台修正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2563EB"/>
                </a:solidFill>
                <a:latin typeface="PingFang TC"/>
                <a:ea typeface="PingFang TC"/>
              </a:rPr>
              <a:t>原型狀態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PingFang TC"/>
                <a:ea typeface="PingFang TC"/>
              </a:rPr>
              <a:t>可跑的 FastAPI 實作 + 管理頁前端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4320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 b="0">
                <a:solidFill>
                  <a:srgbClr val="E2E8F0"/>
                </a:solidFill>
                <a:latin typeface="PingFang TC"/>
                <a:ea typeface="PingFang TC"/>
              </a:rPr>
              <a:t>✓  7 個 API 端點 + 管理頁前端（建立/清單/編輯/刪除/分析）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E2E8F0"/>
                </a:solidFill>
                <a:latin typeface="PingFang TC"/>
                <a:ea typeface="PingFang TC"/>
              </a:rPr>
              <a:t>✓  全部 curl 驗證通過：302 / 404 / 410 / 8 碼 token / 正規化 / SSRF / 過期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E2E8F0"/>
                </a:solidFill>
                <a:latin typeface="PingFang TC"/>
                <a:ea typeface="PingFang TC"/>
              </a:rPr>
              <a:t>✓  production 替換點已在程式註解標明（Redis / 佇列 / CDN / 預聚合 / PostgreSQL）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E2E8F0"/>
                </a:solidFill>
                <a:latin typeface="PingFang TC"/>
                <a:ea typeface="PingFang TC"/>
              </a:rPr>
              <a:t>✓  設計依據：DESIGN.md（16 題決策 + 優劣分析）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下週預告 · NEXT WEEK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從 Prototype 到 Production 的巨大鴻溝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快速掃過，建立全貌 — 下週 Deep Dive 才是主菜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65960"/>
            <a:ext cx="3611880" cy="16002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82296" cy="16002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148840"/>
            <a:ext cx="315468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PingFang TC"/>
                <a:ea typeface="PingFang TC"/>
              </a:rPr>
              <a:t>[Error Handling]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遇到不合法輸入直接 Crash。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07408" y="1965960"/>
            <a:ext cx="3611880" cy="16002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07408" y="1965960"/>
            <a:ext cx="82296" cy="16002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81728" y="2148840"/>
            <a:ext cx="315468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PingFang TC"/>
                <a:ea typeface="PingFang TC"/>
              </a:rPr>
              <a:t>[Rate Limiting]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毫無防護，極易被 Script 惡意灌爆 API。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66176" y="1965960"/>
            <a:ext cx="3611880" cy="16002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66176" y="1965960"/>
            <a:ext cx="82296" cy="16002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40496" y="2148840"/>
            <a:ext cx="315468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PingFang TC"/>
                <a:ea typeface="PingFang TC"/>
              </a:rPr>
              <a:t>[Auth &amp; Isolation]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缺乏多租戶概念，資料全公開。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840480"/>
            <a:ext cx="3611880" cy="16002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840480"/>
            <a:ext cx="82296" cy="16002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023360"/>
            <a:ext cx="315468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PingFang TC"/>
                <a:ea typeface="PingFang TC"/>
              </a:rPr>
              <a:t>[Monitoring]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服務掛了完全沒有 Alerting，處於盲飛狀態。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07408" y="3840480"/>
            <a:ext cx="3611880" cy="16002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407408" y="3840480"/>
            <a:ext cx="82296" cy="16002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4023360"/>
            <a:ext cx="315468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PingFang TC"/>
                <a:ea typeface="PingFang TC"/>
              </a:rPr>
              <a:t>[Data Cleanup]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過期資料永不刪除，一年後 DB 將面臨嚴重 Bloat。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66176" y="3840480"/>
            <a:ext cx="3611880" cy="16002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66176" y="3840480"/>
            <a:ext cx="82296" cy="16002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40496" y="4023360"/>
            <a:ext cx="315468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PingFang TC"/>
                <a:ea typeface="PingFang TC"/>
              </a:rPr>
              <a:t>[Caching / CDN]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每次轉址都直擊 DB，流量一來直接癱瘓。
→ 下週 Deep Dive 展開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極限擴展 · STEP 1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瓶頸在哪？—— DB 先爆還是 Server 先爆？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00200"/>
            <a:ext cx="109728" cy="13258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58368" y="1600200"/>
            <a:ext cx="5943600" cy="132588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09928"/>
            <a:ext cx="557784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PingFang TC"/>
                <a:ea typeface="PingFang TC"/>
              </a:rPr>
              <a:t>API Server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64748B"/>
                </a:solidFill>
                <a:latin typeface="PingFang TC"/>
                <a:ea typeface="PingFang TC"/>
              </a:rPr>
              <a:t>Redirect handler 邏輯簡單（查 token → 回 302）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64748B"/>
                </a:solidFill>
                <a:latin typeface="PingFang TC"/>
                <a:ea typeface="PingFang TC"/>
              </a:rPr>
              <a:t>CPU 不是瓶頸，水平擴展容易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108960"/>
            <a:ext cx="109728" cy="132588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3108960"/>
            <a:ext cx="5943600" cy="132588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218688"/>
            <a:ext cx="557784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PingFang TC"/>
                <a:ea typeface="PingFang TC"/>
              </a:rPr>
              <a:t>Database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64748B"/>
                </a:solidFill>
                <a:latin typeface="PingFang TC"/>
                <a:ea typeface="PingFang TC"/>
              </a:rPr>
              <a:t>每次 redirect 都是一次 DB read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64748B"/>
                </a:solidFill>
                <a:latin typeface="PingFang TC"/>
                <a:ea typeface="PingFang TC"/>
              </a:rPr>
              <a:t>50K QPS read → 大多數單機 DB 扛不住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617720"/>
            <a:ext cx="109728" cy="132588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4617720"/>
            <a:ext cx="5943600" cy="132588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727448"/>
            <a:ext cx="557784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PingFang TC"/>
                <a:ea typeface="PingFang TC"/>
              </a:rPr>
              <a:t>Network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64748B"/>
                </a:solidFill>
                <a:latin typeface="PingFang TC"/>
                <a:ea typeface="PingFang TC"/>
              </a:rPr>
              <a:t>302 response 很小（只有 Location header）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64748B"/>
                </a:solidFill>
                <a:latin typeface="PingFang TC"/>
                <a:ea typeface="PingFang TC"/>
              </a:rPr>
              <a:t>頻寬不是問題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49440" y="1920240"/>
            <a:ext cx="4709160" cy="265176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23760" y="2194560"/>
            <a:ext cx="4206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2563EB"/>
                </a:solidFill>
                <a:latin typeface="PingFang TC"/>
                <a:ea typeface="PingFang TC"/>
              </a:rPr>
              <a:t>結論：DB 是第一個瓶頸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教材估算 ~5,800 QPS redirect</a:t>
            </a:r>
          </a:p>
          <a:p>
            <a:pPr algn="l">
              <a:spcAft>
                <a:spcPts val="1200"/>
              </a:spcAft>
            </a:pPr>
            <a:r>
              <a:rPr sz="1300" b="1">
                <a:solidFill>
                  <a:srgbClr val="0F172A"/>
                </a:solidFill>
                <a:latin typeface="PingFang TC"/>
                <a:ea typeface="PingFang TC"/>
              </a:rPr>
              <a:t>現在要 50K → 約 10 倍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0F172A"/>
                </a:solidFill>
                <a:latin typeface="PingFang TC"/>
                <a:ea typeface="PingFang TC"/>
              </a:rPr>
              <a:t>解法方向：在 DB 前面擋一層 Cache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172200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讀側:cache 擋掉大多數 DB read（第 7 題 Redis 就是這層）→ 接著換「寫側(分析 scan_events)」變成下一個瓶頸(下頁)。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極限擴展 · STEP 2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加 Cache 能解多少？—— 不同 hit rate 下 DB 承受量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50K redirect QPS 全打 DB → 撐不住;cache 擋掉 hit 的部分,DB 只收 miss。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097280" y="1965960"/>
          <a:ext cx="100584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200400"/>
                <a:gridCol w="3200400"/>
              </a:tblGrid>
              <a:tr h="493776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Cache Hit Rate</a:t>
                      </a:r>
                    </a:p>
                  </a:txBody>
                  <a:tcPr marT="50800" marB="50800" marL="1270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DB 實際 QPS</a:t>
                      </a:r>
                    </a:p>
                  </a:txBody>
                  <a:tcPr marT="50800" marB="50800" marL="1270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能撐嗎？</a:t>
                      </a:r>
                    </a:p>
                  </a:txBody>
                  <a:tcPr marT="50800" marB="50800" marL="127000" anchor="ctr">
                    <a:solidFill>
                      <a:srgbClr val="2563EB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0%（沒 cache）</a:t>
                      </a:r>
                    </a:p>
                  </a:txBody>
                  <a:tcPr marT="50800" marB="50800" marL="127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50,000</a:t>
                      </a:r>
                    </a:p>
                  </a:txBody>
                  <a:tcPr marT="50800" marB="50800" marL="127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DC2626"/>
                          </a:solidFill>
                          <a:latin typeface="PingFang TC"/>
                          <a:ea typeface="PingFang TC"/>
                        </a:rPr>
                        <a:t>完全撐不住</a:t>
                      </a:r>
                    </a:p>
                  </a:txBody>
                  <a:tcPr marT="50800" marB="50800" marL="127000" anchor="ctr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90%</a:t>
                      </a:r>
                    </a:p>
                  </a:txBody>
                  <a:tcPr marT="50800" marB="50800" marL="1270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5,000</a:t>
                      </a:r>
                    </a:p>
                  </a:txBody>
                  <a:tcPr marT="50800" marB="50800" marL="1270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D97706"/>
                          </a:solidFill>
                          <a:latin typeface="PingFang TC"/>
                          <a:ea typeface="PingFang TC"/>
                        </a:rPr>
                        <a:t>勉強</a:t>
                      </a:r>
                    </a:p>
                  </a:txBody>
                  <a:tcPr marT="50800" marB="50800" marL="127000" anchor="ctr">
                    <a:solidFill>
                      <a:srgbClr val="F1F5F9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95%</a:t>
                      </a:r>
                    </a:p>
                  </a:txBody>
                  <a:tcPr marT="50800" marB="50800" marL="127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2,500</a:t>
                      </a:r>
                    </a:p>
                  </a:txBody>
                  <a:tcPr marT="50800" marB="50800" marL="127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可以</a:t>
                      </a:r>
                    </a:p>
                  </a:txBody>
                  <a:tcPr marT="50800" marB="50800" marL="127000" anchor="ctr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99%</a:t>
                      </a:r>
                    </a:p>
                  </a:txBody>
                  <a:tcPr marT="50800" marB="50800" marL="1270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500</a:t>
                      </a:r>
                    </a:p>
                  </a:txBody>
                  <a:tcPr marT="50800" marB="50800" marL="1270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59669"/>
                          </a:solidFill>
                          <a:latin typeface="PingFang TC"/>
                          <a:ea typeface="PingFang TC"/>
                        </a:rPr>
                        <a:t>輕鬆</a:t>
                      </a:r>
                    </a:p>
                  </a:txBody>
                  <a:tcPr marT="50800" marB="50800" marL="12700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4709160"/>
            <a:ext cx="11109960" cy="14173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活動 QR Code 特性:數量少（可能就幾十個）但每個 QPS 極高 → cache hit rate 可能 99%+ → DB 只收 ~500 QPS，完全可以。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（行銷活動印在海報上的少數 QR，被幾百萬人掃 → 極端集中的熱點,天生適合 cache。）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極限擴展 · STEP 2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Cache 選型 — Local / Redis / CDN 三層比較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54480"/>
          <a:ext cx="1110996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3154680"/>
                <a:gridCol w="3154680"/>
                <a:gridCol w="3154680"/>
              </a:tblGrid>
              <a:tr h="5029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維度</a:t>
                      </a:r>
                    </a:p>
                  </a:txBody>
                  <a:tcPr marT="38100" marB="381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Local Cache</a:t>
                      </a:r>
                    </a:p>
                  </a:txBody>
                  <a:tcPr marT="38100" marB="381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Redis / Memcached</a:t>
                      </a:r>
                    </a:p>
                  </a:txBody>
                  <a:tcPr marT="38100" marB="381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CDN Edge Cache</a:t>
                      </a:r>
                    </a:p>
                  </a:txBody>
                  <a:tcPr marT="38100" marB="38100" marL="101600" anchor="ctr">
                    <a:solidFill>
                      <a:srgbClr val="2563E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延遲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最低（in-process）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中（network hop）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最低（離用戶近）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一致性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差（每台各一份）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好（共享）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差（purge 慢）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Hit Rate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無 sticky routing 則低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高（共享）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依流量集中度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容量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受限於 server 記憶體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獨立擴展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依 CDN 供應商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適用場景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極熱 key、不常變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通用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靜態或少變內容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48640" y="4754880"/>
            <a:ext cx="11109960" cy="86868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本 scenario 選 Redis + CDN 雙層:CDN 擋第一層（離用戶近、減 origin 流量）· Redis 擋第二層（CDN miss 不直接打 DB）· DB 只處理 cold start / miss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76072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⚠ 雙層必要性看「規模 + 地理」:Local-only + 小流量 → 單層 Redis 也夠;跨區域 / &gt;100K QPS → 雙層必要。本專案落點:第 7 題 Redis（單層）+ 附錄 B CDN 邊緣變體（選配升級到雙層）。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極限擴展 · STEP 2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Near Cache（Local + Redis 兩層）何時用？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核心動機:省掉「連 Redis 的那一跳」（同機房 ~0.5ms round-trip）。讀路徑加一層 L1: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874519"/>
            <a:ext cx="2651760" cy="82296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L1 local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行程內 ~奈秒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931920" y="2286000"/>
            <a:ext cx="64008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4572000" y="1874519"/>
            <a:ext cx="2651760" cy="82296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L2 Redis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~0.5ms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223760" y="2286000"/>
            <a:ext cx="64008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863840" y="1874519"/>
            <a:ext cx="2651760" cy="82296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DB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cache miss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39" y="2011680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PingFang TC"/>
                <a:ea typeface="PingFang TC"/>
              </a:rPr>
              <a:t>miss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69480" y="2011680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PingFang TC"/>
                <a:ea typeface="PingFang TC"/>
              </a:rPr>
              <a:t>miss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48640" y="2926080"/>
          <a:ext cx="111099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7452360"/>
              </a:tblGrid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值得加 L1 的情況</a:t>
                      </a:r>
                    </a:p>
                  </a:txBody>
                  <a:tcPr marT="38100" marB="381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為什麼要 L1</a:t>
                      </a:r>
                    </a:p>
                  </a:txBody>
                  <a:tcPr marT="38100" marB="38100" marL="101600"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極端熱點 key（hot key）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少數 token 佔絕大多數流量（活動 QR 正是此型）→ L1 直接回、完全不碰 Redis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單一 Redis 頻寬/CPU 快到頂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50K+ QPS 打單節點會先飽和（附錄 J #4）→ L1 擋多數、替 Redis 卸流量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要壓 p99 尾延遲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Redis 偶發慢查詢/GC/網路抖動拉高 p99；L1 命中不受影響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548640" y="4983480"/>
            <a:ext cx="11109960" cy="77724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代價:L1 每台各一份 → 一致性變差（update 已在 Redis 失效,各台 L1 仍舊值）。解法:很短 L1 TTL（1–5s）或 pub/sub 廣播失效（keyspace notification）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852160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判斷:單層 Redis 已是瓶頸 + 流量集中 hot key + 能接受幾秒弱一致 → 才加 L1。兩種雙層:CDN+Redis（L1 放邊緣）vs Local+Redis（L1 放 app 行程內）。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極限擴展 · STEP 3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CDN 的 TTL 兩難 + Analytics 缺口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486400" cy="182880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TTL 太長（例 24h）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/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• URL 改了，CDN 在 TTL 內不更新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• 用戶還被導到舊目標頁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• 無法即時停用被濫用的 short link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600200"/>
            <a:ext cx="5486400" cy="182880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TTL 太短（例 10s）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/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• CDN 幾乎等於沒 cache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• 大量流量穿透到 origin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• 失去 CDN 擋流量的意義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611880"/>
            <a:ext cx="11109960" cy="123444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解法:合理 TTL + 主動 invalidation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主動 purge：URL 改時呼叫 CDN purge API（Cloudflare 秒級 / CloudFront 分鐘級）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SWR (stale-while-revalidate)：max-age=300, swr=60 → 0–300s 回 cache；300–360s 回舊值+背景拉新（用戶 0 等待）；360s+ 同步 origin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5029200"/>
            <a:ext cx="11109960" cy="109728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⚠ CDN 的副作用:analytics 缺口 —— CDN 命中時 request 不打到 API Server → 這部分流量永遠不 emit analytics event → Analytics Pipeline 需額外手段補（CDN logs / edge function / 取樣）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極限擴展 · STEP 4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Token 生成也要 50K QPS？—— Creation flow 會被打爆嗎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Hash-Based（教材方案）</a:t>
            </a:r>
          </a:p>
          <a:p>
            <a:pPr lvl="1">
              <a:spcAft>
                <a:spcPts val="9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SHA-256 是 stateless 運算</a:t>
            </a:r>
          </a:p>
          <a:p>
            <a:pPr lvl="1">
              <a:spcAft>
                <a:spcPts val="9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CPU bound → 水平擴展就行</a:t>
            </a:r>
          </a:p>
          <a:p>
            <a:pPr lvl="1">
              <a:spcAft>
                <a:spcPts val="9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加機器 = 加產能，線性擴展</a:t>
            </a:r>
          </a:p>
          <a:p>
            <a:pPr lvl="1">
              <a:spcAft>
                <a:spcPts val="9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Operational complexity 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73736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Pre-generated Pool</a:t>
            </a:r>
          </a:p>
          <a:p>
            <a:pPr lvl="1">
              <a:spcAft>
                <a:spcPts val="9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事先產生一批 unique token 存 DB</a:t>
            </a:r>
          </a:p>
          <a:p>
            <a:pPr lvl="1">
              <a:spcAft>
                <a:spcPts val="9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寫入時直接分配 → 零 collision</a:t>
            </a:r>
          </a:p>
          <a:p>
            <a:pPr lvl="1">
              <a:spcAft>
                <a:spcPts val="9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Pool 會不會被耗盡？需背景 job 補充</a:t>
            </a:r>
          </a:p>
          <a:p>
            <a:pPr lvl="1">
              <a:spcAft>
                <a:spcPts val="9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Operational complexity 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709160"/>
            <a:ext cx="11109960" cy="128016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判斷:活動場景 creation QPS 遠低於 redirect QPS（建一次、掃千萬次）→ Hash-based 足夠,不需 pre-generated pool 的額外複雜度。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（token 生成不是這個 scenario 的瓶頸——瓶頸在 redirect 讀路徑,見 Step 1-3。）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極限擴展 · 50× 推演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1k → 50k QPS：這套架構哪裡先崩？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2563EB"/>
                </a:solidFill>
                <a:latin typeface="PingFang TC"/>
                <a:ea typeface="PingFang TC"/>
              </a:rPr>
              <a:t>1,000 QPS  →  50,000 QPS（大型客戶上線,流量瞬間 50×）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103120"/>
          <a:ext cx="1110996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3017520"/>
                <a:gridCol w="7452360"/>
              </a:tblGrid>
              <a:tr h="5181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#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元件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為何崩（先 → 後）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1</a:t>
                      </a:r>
                    </a:p>
                  </a:txBody>
                  <a:tcPr marT="25400" marB="25400" marL="101600"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DB 寫入 (scan_events)</a:t>
                      </a:r>
                    </a:p>
                  </a:txBody>
                  <a:tcPr marT="25400" marB="25400" marL="101600"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每次 redirect 一筆 INSERT → 50k writes/s 打單一 RDS（單 AZ、無 replica）→ 最先爆</a:t>
                      </a:r>
                    </a:p>
                  </a:txBody>
                  <a:tcPr marT="25400" marB="25400" marL="101600" anchor="ctr">
                    <a:solidFill>
                      <a:srgbClr val="FEE2E2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2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EC2 ASG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max_size=2 且無 scaling policy（固定 desired）→ 扛不住 50k 連線/CPU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3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API Gateway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stage rate=1000 + 帳號預設 ~10k RPS → 大量 429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4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Redis 單節點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cache.t4g.micro 50k GET/s 高 CPU/網路、無讀擴展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5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Edge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CloudFront/ALB 可擴(LCU 成本↑);但 redirect 不快取 → 全額回源放大下游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3949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結論：DB 的 scan 寫入最先崩——分析寫入沒和 redirect 解耦(唯一線性暴增又集中單點的寫入)。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極限擴展 · ANALYTICS PIPELINE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解法:緩衝 + 批次聚合（解 DB 寫入瓶頸）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920240"/>
            <a:ext cx="1920240" cy="82296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redirect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put 1 event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0" y="1920240"/>
            <a:ext cx="2468880" cy="82296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Kinesis / SQS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高吞吐緩衝(吸尖峰)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577840" y="1920240"/>
            <a:ext cx="2468880" cy="82296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消費者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Lambda/KCL 批次聚合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0" y="1280160"/>
            <a:ext cx="3017520" cy="6400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000" b="1">
                <a:solidFill>
                  <a:srgbClr val="FFFFFF"/>
                </a:solidFill>
                <a:latin typeface="PingFang TC"/>
                <a:ea typeface="PingFang TC"/>
              </a:rPr>
              <a:t>每日計數 rollup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PingFang TC"/>
                <a:ea typeface="PingFang TC"/>
              </a:rPr>
              <a:t>(DynamoDB/RDS)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0" y="2057400"/>
            <a:ext cx="3017520" cy="6400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000" b="1">
                <a:solidFill>
                  <a:srgbClr val="FFFFFF"/>
                </a:solidFill>
                <a:latin typeface="PingFang TC"/>
                <a:ea typeface="PingFang TC"/>
              </a:rPr>
              <a:t>原始明細歸檔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PingFang TC"/>
                <a:ea typeface="PingFang TC"/>
              </a:rPr>
              <a:t>(S3 + Athena)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0" y="2834640"/>
            <a:ext cx="3017520" cy="6400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000" b="1">
                <a:solidFill>
                  <a:srgbClr val="FFFFFF"/>
                </a:solidFill>
                <a:latin typeface="PingFang TC"/>
                <a:ea typeface="PingFang TC"/>
              </a:rPr>
              <a:t>即時分析(選)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PingFang TC"/>
                <a:ea typeface="PingFang TC"/>
              </a:rPr>
              <a:t>OpenSearch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377440" y="2331720"/>
            <a:ext cx="3657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212080" y="2331720"/>
            <a:ext cx="3657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8046720" y="1600200"/>
            <a:ext cx="365760" cy="731520"/>
          </a:xfrm>
          <a:prstGeom prst="line">
            <a:avLst/>
          </a:prstGeom>
          <a:ln w="1397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8046720" y="2331720"/>
            <a:ext cx="365760" cy="45720"/>
          </a:xfrm>
          <a:prstGeom prst="line">
            <a:avLst/>
          </a:prstGeom>
          <a:ln w="1397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8046720" y="2331720"/>
            <a:ext cx="365760" cy="822960"/>
          </a:xfrm>
          <a:prstGeom prst="line">
            <a:avLst/>
          </a:prstGeom>
          <a:ln w="1397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48640" y="4023360"/>
            <a:ext cx="112471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redirect 只丟事件進 stream(極快、緩衝吸 50k/s 尖峰),不再每次同步寫 RDS → 寫入降到批次級(對應第 14 題)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ASG：target-tracking autoscaling + 提高 max(或 Fargate/Lambda)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讀路徑：Redis cluster/多節點 + 拉高熱門命中;RDS read replica 分攤 cache-miss 讀(第 16 題)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edge：熱門 token 用 CloudFront 短 TTL 邊緣 redirect(附錄 B)在邊緣消化大半流量;API GW 調高 throttle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極限擴展 · ANALYTICS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你想記錄什麼？—— Who / When / Where / What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20240"/>
            <a:ext cx="2651760" cy="137160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>
                <a:solidFill>
                  <a:srgbClr val="FFFFFF"/>
                </a:solidFill>
                <a:latin typeface="PingFang TC"/>
                <a:ea typeface="PingFang TC"/>
              </a:rPr>
              <a:t>Who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PingFang TC"/>
                <a:ea typeface="PingFang TC"/>
              </a:rPr>
              <a:t/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PingFang TC"/>
                <a:ea typeface="PingFang TC"/>
              </a:rPr>
              <a:t>IP / User-Agent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PingFang TC"/>
                <a:ea typeface="PingFang TC"/>
              </a:rPr>
              <a:t>裝置類型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0" y="1920240"/>
            <a:ext cx="2651760" cy="137160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>
                <a:solidFill>
                  <a:srgbClr val="FFFFFF"/>
                </a:solidFill>
                <a:latin typeface="PingFang TC"/>
                <a:ea typeface="PingFang TC"/>
              </a:rPr>
              <a:t>When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PingFang TC"/>
                <a:ea typeface="PingFang TC"/>
              </a:rPr>
              <a:t/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PingFang TC"/>
                <a:ea typeface="PingFang TC"/>
              </a:rPr>
              <a:t>掃描時間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PingFang TC"/>
                <a:ea typeface="PingFang TC"/>
              </a:rPr>
              <a:t>時區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920240"/>
            <a:ext cx="2651760" cy="137160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>
                <a:solidFill>
                  <a:srgbClr val="FFFFFF"/>
                </a:solidFill>
                <a:latin typeface="PingFang TC"/>
                <a:ea typeface="PingFang TC"/>
              </a:rPr>
              <a:t>Where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PingFang TC"/>
                <a:ea typeface="PingFang TC"/>
              </a:rPr>
              <a:t/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PingFang TC"/>
                <a:ea typeface="PingFang TC"/>
              </a:rPr>
              <a:t>Referer / GeoIP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PingFang TC"/>
                <a:ea typeface="PingFang TC"/>
              </a:rPr>
              <a:t>來源頁面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0" y="1920240"/>
            <a:ext cx="2651760" cy="137160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>
                <a:solidFill>
                  <a:srgbClr val="FFFFFF"/>
                </a:solidFill>
                <a:latin typeface="PingFang TC"/>
                <a:ea typeface="PingFang TC"/>
              </a:rPr>
              <a:t>What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PingFang TC"/>
                <a:ea typeface="PingFang TC"/>
              </a:rPr>
              <a:t/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PingFang TC"/>
                <a:ea typeface="PingFang TC"/>
              </a:rPr>
              <a:t>哪個 QR Code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PingFang TC"/>
                <a:ea typeface="PingFang TC"/>
              </a:rPr>
              <a:t>目標 URL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94760"/>
            <a:ext cx="10972800" cy="96012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>
                <a:solidFill>
                  <a:srgbClr val="FFFFFF"/>
                </a:solidFill>
                <a:latin typeface="PingFang TC"/>
                <a:ea typeface="PingFang TC"/>
              </a:rPr>
              <a:t>追問:這些資料若寫在 redirect 的 critical path 上 → 50K QPS 下每次多一個 DB write → DB 直接爆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93776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所以拆兩條路徑:Redirect path（延遲敏感,要快 → Cache + DB）· Analytics path（量大可延遲,要穩 → Queue + Batch）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本專案:scan_events 明細（第 8 題非同步寫）+ 正式版事件流（附錄 J pipeline）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極限擴展 · ANALYTICS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Analytics Store 選型 —— 記錄下來存哪、怎麼查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600200"/>
          <a:ext cx="11283696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2478024"/>
                <a:gridCol w="2478024"/>
                <a:gridCol w="2478024"/>
                <a:gridCol w="2478024"/>
              </a:tblGrid>
              <a:tr h="4876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/>
                      </a:r>
                    </a:p>
                  </a:txBody>
                  <a:tcPr marT="25400" marB="25400" marL="762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OLTP (PostgreSQL)</a:t>
                      </a:r>
                    </a:p>
                  </a:txBody>
                  <a:tcPr marT="25400" marB="25400" marL="762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Time-Series (TimescaleDB)</a:t>
                      </a:r>
                    </a:p>
                  </a:txBody>
                  <a:tcPr marT="25400" marB="25400" marL="762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OLAP 自架 (ClickHouse)</a:t>
                      </a:r>
                    </a:p>
                  </a:txBody>
                  <a:tcPr marT="25400" marB="25400" marL="762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OLAP serverless (Athena/BigQuery)</a:t>
                      </a:r>
                    </a:p>
                  </a:txBody>
                  <a:tcPr marT="25400" marB="25400" marL="76200" anchor="ctr">
                    <a:solidFill>
                      <a:srgbClr val="2563EB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寫入</a:t>
                      </a:r>
                    </a:p>
                  </a:txBody>
                  <a:tcPr marT="25400" marB="254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簡單</a:t>
                      </a:r>
                    </a:p>
                  </a:txBody>
                  <a:tcPr marT="25400" marB="254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優化過</a:t>
                      </a:r>
                    </a:p>
                  </a:txBody>
                  <a:tcPr marT="25400" marB="254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極快（batch）</a:t>
                      </a:r>
                    </a:p>
                  </a:txBody>
                  <a:tcPr marT="25400" marB="254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便宜</a:t>
                      </a:r>
                    </a:p>
                  </a:txBody>
                  <a:tcPr marT="25400" marB="25400" marL="76200" anchor="ctr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趨勢查詢</a:t>
                      </a:r>
                    </a:p>
                  </a:txBody>
                  <a:tcPr marT="25400" marB="25400" marL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慢</a:t>
                      </a:r>
                    </a:p>
                  </a:txBody>
                  <a:tcPr marT="25400" marB="25400" marL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快（時間分區）</a:t>
                      </a:r>
                    </a:p>
                  </a:txBody>
                  <a:tcPr marT="25400" marB="25400" marL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極快（columnar）</a:t>
                      </a:r>
                    </a:p>
                  </a:txBody>
                  <a:tcPr marT="25400" marB="25400" marL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中</a:t>
                      </a:r>
                    </a:p>
                  </a:txBody>
                  <a:tcPr marT="25400" marB="25400" marL="76200" anchor="ctr">
                    <a:solidFill>
                      <a:srgbClr val="F1F5F9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單筆查詢</a:t>
                      </a:r>
                    </a:p>
                  </a:txBody>
                  <a:tcPr marT="25400" marB="254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快（索引）</a:t>
                      </a:r>
                    </a:p>
                  </a:txBody>
                  <a:tcPr marT="25400" marB="254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中</a:t>
                      </a:r>
                    </a:p>
                  </a:txBody>
                  <a:tcPr marT="25400" marB="254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中</a:t>
                      </a:r>
                    </a:p>
                  </a:txBody>
                  <a:tcPr marT="25400" marB="254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慢</a:t>
                      </a:r>
                    </a:p>
                  </a:txBody>
                  <a:tcPr marT="25400" marB="25400" marL="76200" anchor="ctr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成本</a:t>
                      </a:r>
                    </a:p>
                  </a:txBody>
                  <a:tcPr marT="25400" marB="25400" marL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高</a:t>
                      </a:r>
                    </a:p>
                  </a:txBody>
                  <a:tcPr marT="25400" marB="25400" marL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中</a:t>
                      </a:r>
                    </a:p>
                  </a:txBody>
                  <a:tcPr marT="25400" marB="25400" marL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中</a:t>
                      </a:r>
                    </a:p>
                  </a:txBody>
                  <a:tcPr marT="25400" marB="25400" marL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最低</a:t>
                      </a:r>
                    </a:p>
                  </a:txBody>
                  <a:tcPr marT="25400" marB="25400" marL="76200" anchor="ctr">
                    <a:solidFill>
                      <a:srgbClr val="F1F5F9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適合</a:t>
                      </a:r>
                    </a:p>
                  </a:txBody>
                  <a:tcPr marT="25400" marB="254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小規模</a:t>
                      </a:r>
                    </a:p>
                  </a:txBody>
                  <a:tcPr marT="25400" marB="254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中規模+即時</a:t>
                      </a:r>
                    </a:p>
                  </a:txBody>
                  <a:tcPr marT="25400" marB="254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大規模+即時</a:t>
                      </a:r>
                    </a:p>
                  </a:txBody>
                  <a:tcPr marT="25400" marB="254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大規模+報表</a:t>
                      </a:r>
                    </a:p>
                  </a:txBody>
                  <a:tcPr marT="25400" marB="25400" marL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457200" y="4754880"/>
            <a:ext cx="11292840" cy="123444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選型取決於查詢模式:即時 dashboard + 時間序列 → TimescaleDB｜即時 + 複雜聚合 → ClickHouse 自架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每日/每週報表 + 不想維運 → Athena / BigQuery 最划算（本專案附錄 J:S3 + Athena 歸檔 + RDS/DynamoDB 預聚合）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極限擴展 · ANALYTICS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即時 dashboard vs 每日報表 —— 架構一樣嗎？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563EB"/>
                </a:solidFill>
                <a:latin typeface="PingFang TC"/>
                <a:ea typeface="PingFang TC"/>
              </a:rPr>
              <a:t>即時 Dashboard（streaming，延遲 &lt; 秒級,複雜度/成本高）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2468880" cy="82296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Kafka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108960" y="2286000"/>
            <a:ext cx="32004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3429000" y="1874519"/>
            <a:ext cx="2468880" cy="82296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Flink / Spark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Streaming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897880" y="2286000"/>
            <a:ext cx="32004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6217920" y="1874519"/>
            <a:ext cx="2468880" cy="82296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TimescaleDB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686800" y="2286000"/>
            <a:ext cx="32004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006840" y="1874519"/>
            <a:ext cx="2468880" cy="82296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Dashboard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(即時更新)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0175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59669"/>
                </a:solidFill>
                <a:latin typeface="PingFang TC"/>
                <a:ea typeface="PingFang TC"/>
              </a:rPr>
              <a:t>每日報表（batch，延遲 = 小時級,簡單便宜）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474720"/>
            <a:ext cx="2468880" cy="82296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SQS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108960" y="3886200"/>
            <a:ext cx="32004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429000" y="3474720"/>
            <a:ext cx="2468880" cy="82296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Consumer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S3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897880" y="3886200"/>
            <a:ext cx="32004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217920" y="3474720"/>
            <a:ext cx="2468880" cy="82296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Daily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Batch Job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686800" y="3886200"/>
            <a:ext cx="32004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006840" y="3474720"/>
            <a:ext cx="2468880" cy="82296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Report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(每日更新)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663440"/>
            <a:ext cx="11109960" cy="105156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面試重點:先問需求再選架構。大部分 QR Code 服務「每日報表就夠了」→ 不要過度設計。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（需要秒級即時才上 Kafka+Flink;否則 SQS + S3 + 每日 batch 最省。）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面試實戰 · FRAMEWORK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Design a QR Code Generator —— 45 分鐘時間分配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91640"/>
            <a:ext cx="109728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58368" y="1691640"/>
            <a:ext cx="10972800" cy="9144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01368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0–5 min：需求釐清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64748B"/>
                </a:solidFill>
                <a:latin typeface="PingFang TC"/>
                <a:ea typeface="PingFang TC"/>
              </a:rPr>
              <a:t>靜態 or 動態？需要 analytics 嗎？預期 QPS？→ 問對問題 = 第一個加分點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788920"/>
            <a:ext cx="109728" cy="9144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2788920"/>
            <a:ext cx="10972800" cy="9144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898648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5–15 min：High-Level Design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64748B"/>
                </a:solidFill>
                <a:latin typeface="PingFang TC"/>
                <a:ea typeface="PingFang TC"/>
              </a:rPr>
              <a:t>教材內容要能流暢畫完:Creation flow + Retrieval flow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886200"/>
            <a:ext cx="109728" cy="9144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3886200"/>
            <a:ext cx="10972800" cy="9144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995928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15–35 min：Deep Dive（面試官挑 1–2 追問）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64748B"/>
                </a:solidFill>
                <a:latin typeface="PingFang TC"/>
                <a:ea typeface="PingFang TC"/>
              </a:rPr>
              <a:t>Token collision → Week 1｜流量暴增 → Block 2｜Analytics → Block 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983480"/>
            <a:ext cx="109728" cy="9144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8368" y="4983480"/>
            <a:ext cx="10972800" cy="9144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5093208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35–45 min：收尾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64748B"/>
                </a:solidFill>
                <a:latin typeface="PingFang TC"/>
                <a:ea typeface="PingFang TC"/>
              </a:rPr>
              <a:t>總結 trade-off + 反問面試官問題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面試實戰 · PITFALLS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面試常見扣分點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737360"/>
            <a:ext cx="109728" cy="9144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58368" y="1737360"/>
            <a:ext cx="10972800" cy="9144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65376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需求沒問就開始畫圖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64748B"/>
                </a:solidFill>
                <a:latin typeface="PingFang TC"/>
                <a:ea typeface="PingFang TC"/>
              </a:rPr>
              <a:t>靜態 vs 動態都沒確認,直接假設 → 面試官質疑溝通能力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880360"/>
            <a:ext cx="109728" cy="9144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2880360"/>
            <a:ext cx="10972800" cy="9144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008376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只講 Happy Path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64748B"/>
                </a:solidFill>
                <a:latin typeface="PingFang TC"/>
                <a:ea typeface="PingFang TC"/>
              </a:rPr>
              <a:t>沒考慮 failure case:cache miss、DB 掛、token collision → 缺工程深度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023360"/>
            <a:ext cx="109728" cy="9144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4023360"/>
            <a:ext cx="10972800" cy="9144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151376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Deep Dive 太淺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64748B"/>
                </a:solidFill>
                <a:latin typeface="PingFang TC"/>
                <a:ea typeface="PingFang TC"/>
              </a:rPr>
              <a:t>每個都講一點但都不深 → 不如挑一個講透,展示能「往下鑽」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5166360"/>
            <a:ext cx="109728" cy="9144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8368" y="5166360"/>
            <a:ext cx="10972800" cy="9144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5294376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沒有量化分析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64748B"/>
                </a:solidFill>
                <a:latin typeface="PingFang TC"/>
                <a:ea typeface="PingFang TC"/>
              </a:rPr>
              <a:t>只說「加 cache 就好」但不算 hit rate、不算 DB 負載 → 缺說服力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面試實戰 · PRACTICE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追問:Cache hit rate 掉到 50%，你怎麼辦？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828800"/>
          <a:ext cx="111099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94960"/>
                <a:gridCol w="5715000"/>
              </a:tblGrid>
              <a:tr h="5486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診斷方向</a:t>
                      </a:r>
                    </a:p>
                  </a:txBody>
                  <a:tcPr marT="50800" marB="50800" marL="1270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應對策略</a:t>
                      </a:r>
                    </a:p>
                  </a:txBody>
                  <a:tcPr marT="50800" marB="50800" marL="127000" anchor="ctr">
                    <a:solidFill>
                      <a:srgbClr val="2563E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Working set &gt; cache size（QR 數量暴增）</a:t>
                      </a:r>
                    </a:p>
                  </a:txBody>
                  <a:tcPr marT="50800" marB="50800" marL="127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加大 Redis 記憶體 / Redis Cluster 分片</a:t>
                      </a:r>
                    </a:p>
                  </a:txBody>
                  <a:tcPr marT="50800" marB="50800" marL="1270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TTL 設太短 → 頻繁過期 miss</a:t>
                      </a:r>
                    </a:p>
                  </a:txBody>
                  <a:tcPr marT="50800" marB="50800" marL="1270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延長 TTL / stale-while-revalidate</a:t>
                      </a:r>
                    </a:p>
                  </a:txBody>
                  <a:tcPr marT="50800" marB="50800" marL="127000" anchor="ctr">
                    <a:solidFill>
                      <a:srgbClr val="F1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Eviction policy 不對（LRU vs LFU）</a:t>
                      </a:r>
                    </a:p>
                  </a:txBody>
                  <a:tcPr marT="50800" marB="50800" marL="127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有 hot key → 換 LFU（Redis 4.0+）</a:t>
                      </a:r>
                    </a:p>
                  </a:txBody>
                  <a:tcPr marT="50800" marB="50800" marL="1270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Bot 掃冷門 token → cache penetration</a:t>
                      </a:r>
                    </a:p>
                  </a:txBody>
                  <a:tcPr marT="50800" marB="50800" marL="1270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Negative caching：404 也 cache（短 TTL）</a:t>
                      </a:r>
                    </a:p>
                  </a:txBody>
                  <a:tcPr marT="50800" marB="50800" marL="12700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48640" y="4892040"/>
            <a:ext cx="11109960" cy="91440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答題要點:先「診斷」再「對策」—— 分辨是容量、TTL、eviction、還是穿透問題,對症下藥,而非一律「加機器」。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